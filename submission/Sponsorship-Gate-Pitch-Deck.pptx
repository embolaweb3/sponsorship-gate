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ative"/>
          <p:cNvSpPr/>
          <p:nvPr/>
        </p:nvSpPr>
        <p:spPr>
          <a:xfrm>
            <a:off x="8778240" y="-1280160"/>
            <a:ext cx="5486400" cy="5486400"/>
          </a:xfrm>
          <a:prstGeom prst="ellipse">
            <a:avLst/>
          </a:prstGeom>
          <a:solidFill>
            <a:srgbClr val="0E1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0" y="2148840"/>
            <a:ext cx="256032" cy="256032"/>
          </a:xfrm>
          <a:prstGeom prst="ellipse">
            <a:avLst/>
          </a:prstGeom>
          <a:noFill/>
          <a:ln w="28575">
            <a:solidFill>
              <a:srgbClr val="9B7B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663440" y="2148840"/>
            <a:ext cx="256032" cy="256032"/>
          </a:xfrm>
          <a:prstGeom prst="ellipse">
            <a:avLst/>
          </a:prstGeom>
          <a:noFill/>
          <a:ln w="285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2999232" y="2002536"/>
            <a:ext cx="548640" cy="548640"/>
          </a:xfrm>
          <a:prstGeom prst="diamond">
            <a:avLst/>
          </a:prstGeom>
          <a:solidFill>
            <a:srgbClr val="0A0E16"/>
          </a:solidFill>
          <a:ln w="25400">
            <a:solidFill>
              <a:srgbClr val="F4F6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084832" y="2276856.0"/>
            <a:ext cx="914400" cy="0.0"/>
          </a:xfrm>
          <a:prstGeom prst="line">
            <a:avLst/>
          </a:prstGeom>
          <a:ln w="19050">
            <a:solidFill>
              <a:srgbClr val="8B9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47872" y="2276856.0"/>
            <a:ext cx="1115568" cy="0.0"/>
          </a:xfrm>
          <a:prstGeom prst="line">
            <a:avLst/>
          </a:prstGeom>
          <a:ln w="19050">
            <a:solidFill>
              <a:srgbClr val="8B9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508760" y="247802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B94A3"/>
                </a:solidFill>
                <a:latin typeface="Arial"/>
              </a:rPr>
              <a:t>sponsee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47802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B94A3"/>
                </a:solidFill>
                <a:latin typeface="Arial"/>
              </a:rPr>
              <a:t>sponsor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4F6F8"/>
                </a:solidFill>
                <a:latin typeface="Arial"/>
              </a:rPr>
              <a:t>Sponsorship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03320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2DD4BF"/>
                </a:solidFill>
                <a:latin typeface="Arial"/>
              </a:rPr>
              <a:t>Anonymous, rate-limited fee sponsorship for Midnight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51960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B94A3"/>
                </a:solidFill>
                <a:latin typeface="Arial"/>
              </a:rPr>
              <a:t>A base-layer-native alternative to account-abstraction paymasters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4892040"/>
            <a:ext cx="4206240" cy="0"/>
          </a:xfrm>
          <a:prstGeom prst="line">
            <a:avLst/>
          </a:prstGeom>
          <a:ln w="12700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5074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473"/>
                </a:solidFill>
                <a:latin typeface="Arial"/>
              </a:rPr>
              <a:t>BUILT ON MIDNIGHT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2636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B6473"/>
                </a:solidFill>
                <a:latin typeface="Arial"/>
              </a:rPr>
              <a:t>Status: SIMULATED (16/16 tests) · LOCAL infrastructure verified · not yet deployed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>
                <a:latin typeface="Arial"/>
              </a:defRPr>
            </a:pPr>
            <a:r>
              <a:rPr sz="1200" b="1" i="0">
                <a:solidFill>
                  <a:srgbClr val="2DD4BF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4F6F8"/>
                </a:solidFill>
                <a:latin typeface="Arial"/>
              </a:rPr>
              <a:t>Sponsorship and privacy usually trade off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89888"/>
            <a:ext cx="11002975" cy="0"/>
          </a:xfrm>
          <a:prstGeom prst="line">
            <a:avLst/>
          </a:prstGeom>
          <a:ln w="12700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473"/>
                </a:solidFill>
                <a:latin typeface="Arial"/>
              </a:rPr>
              <a:t>SPONSORSHIP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3"/>
                </a:solidFill>
                <a:latin typeface="Arial"/>
              </a:rPr>
              <a:t>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2476423" cy="3291840"/>
          </a:xfrm>
          <a:prstGeom prst="roundRect">
            <a:avLst>
              <a:gd name="adj" fmla="val 6000"/>
            </a:avLst>
          </a:prstGeom>
          <a:solidFill>
            <a:srgbClr val="111722"/>
          </a:solidFill>
          <a:ln w="12700">
            <a:solidFill>
              <a:srgbClr val="27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74520"/>
            <a:ext cx="2110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9B7BF6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468880"/>
            <a:ext cx="20740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4F6F8"/>
                </a:solidFill>
                <a:latin typeface="Arial"/>
              </a:rPr>
              <a:t>No funds, no first 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474720"/>
            <a:ext cx="207408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B94A3"/>
                </a:solidFill>
                <a:latin typeface="Arial"/>
              </a:rPr>
              <a:t>A new user with zero NIGHT/DUST cannot submit any transaction, including the one that would receive help.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6543" y="1691640"/>
            <a:ext cx="2476423" cy="3291840"/>
          </a:xfrm>
          <a:prstGeom prst="roundRect">
            <a:avLst>
              <a:gd name="adj" fmla="val 6000"/>
            </a:avLst>
          </a:prstGeom>
          <a:solidFill>
            <a:srgbClr val="111722"/>
          </a:solidFill>
          <a:ln w="12700">
            <a:solidFill>
              <a:srgbClr val="27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7711" y="1874520"/>
            <a:ext cx="2110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9B7BF6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7711" y="2468880"/>
            <a:ext cx="20740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4F6F8"/>
                </a:solidFill>
                <a:latin typeface="Arial"/>
              </a:rPr>
              <a:t>Sponsorship leaks the relationship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7711" y="3474720"/>
            <a:ext cx="207408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B94A3"/>
                </a:solidFill>
                <a:latin typeface="Arial"/>
              </a:rPr>
              <a:t>On transparent chains, sponsoring a fee creates a permanent public record of exactly who funded whom.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1691640"/>
            <a:ext cx="2476423" cy="3291840"/>
          </a:xfrm>
          <a:prstGeom prst="roundRect">
            <a:avLst>
              <a:gd name="adj" fmla="val 6000"/>
            </a:avLst>
          </a:prstGeom>
          <a:solidFill>
            <a:srgbClr val="111722"/>
          </a:solidFill>
          <a:ln w="12700">
            <a:solidFill>
              <a:srgbClr val="27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9895" y="1874520"/>
            <a:ext cx="2110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9B7BF6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9895" y="2468880"/>
            <a:ext cx="20740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4F6F8"/>
                </a:solidFill>
                <a:latin typeface="Arial"/>
              </a:rPr>
              <a:t>Free and anonymous invites abuse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9895" y="3474720"/>
            <a:ext cx="207408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B94A3"/>
                </a:solidFill>
                <a:latin typeface="Arial"/>
              </a:rPr>
              <a:t>Remove identity without adding a cost, and sponsorship becomes an open drain for sybil accounts.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20911" y="1691640"/>
            <a:ext cx="2476423" cy="3291840"/>
          </a:xfrm>
          <a:prstGeom prst="roundRect">
            <a:avLst>
              <a:gd name="adj" fmla="val 6000"/>
            </a:avLst>
          </a:prstGeom>
          <a:solidFill>
            <a:srgbClr val="111722"/>
          </a:solidFill>
          <a:ln w="12700">
            <a:solidFill>
              <a:srgbClr val="27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2079" y="1874520"/>
            <a:ext cx="2110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9B7BF6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2079" y="2468880"/>
            <a:ext cx="20740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4F6F8"/>
                </a:solidFill>
                <a:latin typeface="Arial"/>
              </a:rPr>
              <a:t>Privacy and abuse-resistance pull apart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2079" y="3474720"/>
            <a:ext cx="207408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B94A3"/>
                </a:solidFill>
                <a:latin typeface="Arial"/>
              </a:rPr>
              <a:t>Most designs pick one: identity-gated and safe, or anonymous and exploitable.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257800"/>
            <a:ext cx="110029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2DD4BF"/>
                </a:solidFill>
                <a:latin typeface="Arial"/>
              </a:rPr>
              <a:t>Sponsorship needs privacy for a structural reason, not a cosmetic one — the point of sponsoring a stranger is anonymous onboarding.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>
                <a:latin typeface="Arial"/>
              </a:defRPr>
            </a:pPr>
            <a:r>
              <a:rPr sz="1200" b="1" i="0">
                <a:solidFill>
                  <a:srgbClr val="2DD4BF"/>
                </a:solidFill>
                <a:latin typeface="Arial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4F6F8"/>
                </a:solidFill>
                <a:latin typeface="Arial"/>
              </a:rPr>
              <a:t>One gate: anonymous and bounded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89888"/>
            <a:ext cx="11002975" cy="0"/>
          </a:xfrm>
          <a:prstGeom prst="line">
            <a:avLst/>
          </a:prstGeom>
          <a:ln w="12700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473"/>
                </a:solidFill>
                <a:latin typeface="Arial"/>
              </a:rPr>
              <a:t>SPONSORSHIP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3"/>
                </a:solidFill>
                <a:latin typeface="Arial"/>
              </a:rPr>
              <a:t>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167" y="196596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161D2A"/>
          </a:solidFill>
          <a:ln w="15875">
            <a:solidFill>
              <a:srgbClr val="8B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F4F6F8"/>
                </a:solidFill>
                <a:latin typeface="Arial"/>
              </a:rPr>
              <a:t>Sponsee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8B94A3"/>
                </a:solidFill>
                <a:latin typeface="Arial"/>
              </a:rPr>
              <a:t>holds a local secret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75407.5" y="2491740.0"/>
            <a:ext cx="320040.0" cy="0.0"/>
          </a:xfrm>
          <a:prstGeom prst="line">
            <a:avLst/>
          </a:prstGeom>
          <a:ln w="25400">
            <a:solidFill>
              <a:srgbClr val="8B9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95447" y="196596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161D2A"/>
          </a:solidFill>
          <a:ln w="15875">
            <a:solidFill>
              <a:srgbClr val="9B7B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F4F6F8"/>
                </a:solidFill>
                <a:latin typeface="Arial"/>
              </a:rPr>
              <a:t>Anonymous eligibility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8B94A3"/>
                </a:solidFill>
                <a:latin typeface="Arial"/>
              </a:rPr>
              <a:t>PoW-gated registration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15687.5" y="2491740.0"/>
            <a:ext cx="320040.0" cy="0.0"/>
          </a:xfrm>
          <a:prstGeom prst="line">
            <a:avLst/>
          </a:prstGeom>
          <a:ln w="25400">
            <a:solidFill>
              <a:srgbClr val="8B9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35727" y="196596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111722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F4F6F8"/>
                </a:solidFill>
                <a:latin typeface="Arial"/>
              </a:rPr>
              <a:t>Sponsorship Gate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8B94A3"/>
                </a:solidFill>
                <a:latin typeface="Arial"/>
              </a:rPr>
              <a:t>epoch-scoped nullifier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55967.5" y="2491740.0"/>
            <a:ext cx="320040.0" cy="0.0"/>
          </a:xfrm>
          <a:prstGeom prst="line">
            <a:avLst/>
          </a:prstGeom>
          <a:ln w="25400">
            <a:solidFill>
              <a:srgbClr val="8B9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76007" y="196596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161D2A"/>
          </a:solidFill>
          <a:ln w="15875">
            <a:solidFill>
              <a:srgbClr val="8B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F4F6F8"/>
                </a:solidFill>
                <a:latin typeface="Arial"/>
              </a:rPr>
              <a:t>Sponsor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8B94A3"/>
                </a:solidFill>
                <a:latin typeface="Arial"/>
              </a:rPr>
              <a:t>holds NIGHT + DUST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96247.5" y="2491740.0"/>
            <a:ext cx="320040.0" cy="0.0"/>
          </a:xfrm>
          <a:prstGeom prst="line">
            <a:avLst/>
          </a:prstGeom>
          <a:ln w="25400">
            <a:solidFill>
              <a:srgbClr val="8B9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16287" y="196596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161D2A"/>
          </a:solidFill>
          <a:ln w="15875">
            <a:solidFill>
              <a:srgbClr val="9B7B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F4F6F8"/>
                </a:solidFill>
                <a:latin typeface="Arial"/>
              </a:rPr>
              <a:t>Fee balancing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8B94A3"/>
                </a:solidFill>
                <a:latin typeface="Arial"/>
              </a:rPr>
              <a:t>balances tx with DUST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20440"/>
            <a:ext cx="110029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4F6F8"/>
                </a:solidFill>
                <a:latin typeface="Arial"/>
              </a:rPr>
              <a:t>The sponsee never reveals who they are. The sponsor never learns who they funded.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251960"/>
            <a:ext cx="5272887" cy="1691640"/>
          </a:xfrm>
          <a:prstGeom prst="roundRect">
            <a:avLst>
              <a:gd name="adj" fmla="val 8000"/>
            </a:avLst>
          </a:prstGeom>
          <a:solidFill>
            <a:srgbClr val="111722"/>
          </a:solidFill>
          <a:ln w="9525">
            <a:solidFill>
              <a:srgbClr val="27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34840"/>
            <a:ext cx="48156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DD4BF"/>
                </a:solidFill>
                <a:latin typeface="Arial"/>
              </a:rPr>
              <a:t>PoW-gated registration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73752"/>
            <a:ext cx="481568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4A3"/>
                </a:solidFill>
                <a:latin typeface="Arial"/>
              </a:rPr>
              <a:t>Registering a sponsorship-eligible secret costs real computation, not money or identity — bounding how many identities an attacker can cheaply mint.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447" y="4251960"/>
            <a:ext cx="5272887" cy="1691640"/>
          </a:xfrm>
          <a:prstGeom prst="roundRect">
            <a:avLst>
              <a:gd name="adj" fmla="val 8000"/>
            </a:avLst>
          </a:prstGeom>
          <a:solidFill>
            <a:srgbClr val="111722"/>
          </a:solidFill>
          <a:ln w="9525">
            <a:solidFill>
              <a:srgbClr val="27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047" y="4434840"/>
            <a:ext cx="48156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DD4BF"/>
                </a:solidFill>
                <a:latin typeface="Arial"/>
              </a:rPr>
              <a:t>Epoch-scoped nullifiers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047" y="4873752"/>
            <a:ext cx="481568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4A3"/>
                </a:solidFill>
                <a:latin typeface="Arial"/>
              </a:rPr>
              <a:t>Each registered secret can draw one sponsored action per epoch per pool. The nullifier proves “not used yet,” never who used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>
                <a:latin typeface="Arial"/>
              </a:defRPr>
            </a:pPr>
            <a:r>
              <a:rPr sz="1200" b="1" i="0">
                <a:solidFill>
                  <a:srgbClr val="2DD4BF"/>
                </a:solidFill>
                <a:latin typeface="Arial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4F6F8"/>
                </a:solidFill>
                <a:latin typeface="Arial"/>
              </a:rPr>
              <a:t>The full protocol flow, step by step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89888"/>
            <a:ext cx="11002975" cy="0"/>
          </a:xfrm>
          <a:prstGeom prst="line">
            <a:avLst/>
          </a:prstGeom>
          <a:ln w="12700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473"/>
                </a:solidFill>
                <a:latin typeface="Arial"/>
              </a:rPr>
              <a:t>SPONSORSHIP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3"/>
                </a:solidFill>
                <a:latin typeface="Arial"/>
              </a:rPr>
              <a:t>4 / 10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691640"/>
            <a:ext cx="384048" cy="384048"/>
          </a:xfrm>
          <a:prstGeom prst="ellipse">
            <a:avLst/>
          </a:prstGeom>
          <a:noFill/>
          <a:ln w="222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Arial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6384" y="2075688"/>
            <a:ext cx="0" cy="0"/>
          </a:xfrm>
          <a:prstGeom prst="line">
            <a:avLst/>
          </a:prstGeom>
          <a:ln w="12700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6384" y="2075688"/>
            <a:ext cx="0" cy="219456"/>
          </a:xfrm>
          <a:prstGeom prst="line">
            <a:avLst/>
          </a:prstGeom>
          <a:ln w="15875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88720" y="1709928"/>
            <a:ext cx="1040861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F4F6F8"/>
                </a:solidFill>
                <a:latin typeface="Arial"/>
              </a:rPr>
              <a:t>Generate a local secret — never transmitted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2295144"/>
            <a:ext cx="384048" cy="384048"/>
          </a:xfrm>
          <a:prstGeom prst="ellipse">
            <a:avLst/>
          </a:prstGeom>
          <a:noFill/>
          <a:ln w="222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Arial"/>
              </a:rP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" y="2679192"/>
            <a:ext cx="0" cy="0"/>
          </a:xfrm>
          <a:prstGeom prst="line">
            <a:avLst/>
          </a:prstGeom>
          <a:ln w="12700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6384" y="2679192"/>
            <a:ext cx="0" cy="219456"/>
          </a:xfrm>
          <a:prstGeom prst="line">
            <a:avLst/>
          </a:prstGeom>
          <a:ln w="15875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88720" y="2313432"/>
            <a:ext cx="1040861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F4F6F8"/>
                </a:solidFill>
                <a:latin typeface="Arial"/>
              </a:rPr>
              <a:t>Solve a PoW puzzle bound to that secret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2898648"/>
            <a:ext cx="384048" cy="384048"/>
          </a:xfrm>
          <a:prstGeom prst="ellipse">
            <a:avLst/>
          </a:prstGeom>
          <a:noFill/>
          <a:ln w="222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Arial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6384" y="3282696"/>
            <a:ext cx="0" cy="0"/>
          </a:xfrm>
          <a:prstGeom prst="line">
            <a:avLst/>
          </a:prstGeom>
          <a:ln w="12700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6384" y="3282696"/>
            <a:ext cx="0" cy="219456"/>
          </a:xfrm>
          <a:prstGeom prst="line">
            <a:avLst/>
          </a:prstGeom>
          <a:ln w="15875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88720" y="2916936"/>
            <a:ext cx="1040861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F4F6F8"/>
                </a:solidFill>
                <a:latin typeface="Arial"/>
              </a:rPr>
              <a:t>Register the commitment (once, on-chain)</a:t>
            </a:r>
          </a:p>
        </p:txBody>
      </p:sp>
      <p:sp>
        <p:nvSpPr>
          <p:cNvPr id="20" name="Oval 19"/>
          <p:cNvSpPr/>
          <p:nvPr/>
        </p:nvSpPr>
        <p:spPr>
          <a:xfrm>
            <a:off x="594360" y="3502152"/>
            <a:ext cx="384048" cy="384048"/>
          </a:xfrm>
          <a:prstGeom prst="ellipse">
            <a:avLst/>
          </a:prstGeom>
          <a:noFill/>
          <a:ln w="222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Arial"/>
              </a:rPr>
              <a:t>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6384" y="3886200"/>
            <a:ext cx="0" cy="0"/>
          </a:xfrm>
          <a:prstGeom prst="line">
            <a:avLst/>
          </a:prstGeom>
          <a:ln w="12700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" y="3886200"/>
            <a:ext cx="0" cy="219456"/>
          </a:xfrm>
          <a:prstGeom prst="line">
            <a:avLst/>
          </a:prstGeom>
          <a:ln w="15875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88720" y="3520440"/>
            <a:ext cx="1040861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F4F6F8"/>
                </a:solidFill>
                <a:latin typeface="Arial"/>
              </a:rPr>
              <a:t>Prove eligibility: registered + pool active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" y="4105656"/>
            <a:ext cx="384048" cy="384048"/>
          </a:xfrm>
          <a:prstGeom prst="ellipse">
            <a:avLst/>
          </a:prstGeom>
          <a:noFill/>
          <a:ln w="222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Arial"/>
              </a:rPr>
              <a:t>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6384" y="4489704"/>
            <a:ext cx="0" cy="0"/>
          </a:xfrm>
          <a:prstGeom prst="line">
            <a:avLst/>
          </a:prstGeom>
          <a:ln w="12700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6384" y="4489704"/>
            <a:ext cx="0" cy="219456"/>
          </a:xfrm>
          <a:prstGeom prst="line">
            <a:avLst/>
          </a:prstGeom>
          <a:ln w="15875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88720" y="4123944"/>
            <a:ext cx="1040861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F4F6F8"/>
                </a:solidFill>
                <a:latin typeface="Arial"/>
              </a:rPr>
              <a:t>Derive the epoch nullifier and consume it</a:t>
            </a:r>
          </a:p>
        </p:txBody>
      </p:sp>
      <p:sp>
        <p:nvSpPr>
          <p:cNvPr id="28" name="Oval 27"/>
          <p:cNvSpPr/>
          <p:nvPr/>
        </p:nvSpPr>
        <p:spPr>
          <a:xfrm>
            <a:off x="594360" y="4709160"/>
            <a:ext cx="384048" cy="384048"/>
          </a:xfrm>
          <a:prstGeom prst="ellipse">
            <a:avLst/>
          </a:prstGeom>
          <a:noFill/>
          <a:ln w="22225">
            <a:solidFill>
              <a:srgbClr val="9B7B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B7BF6"/>
                </a:solidFill>
                <a:latin typeface="Arial"/>
              </a:rPr>
              <a:t>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6384" y="5093208"/>
            <a:ext cx="0" cy="0"/>
          </a:xfrm>
          <a:prstGeom prst="line">
            <a:avLst/>
          </a:prstGeom>
          <a:ln w="12700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6384" y="5093208"/>
            <a:ext cx="0" cy="219456"/>
          </a:xfrm>
          <a:prstGeom prst="line">
            <a:avLst/>
          </a:prstGeom>
          <a:ln w="15875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188720" y="4727448"/>
            <a:ext cx="1040861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F4F6F8"/>
                </a:solidFill>
                <a:latin typeface="Arial"/>
              </a:rPr>
              <a:t>Sponsor balances the finalized transaction with sponsor DUST</a:t>
            </a:r>
          </a:p>
        </p:txBody>
      </p:sp>
      <p:sp>
        <p:nvSpPr>
          <p:cNvPr id="32" name="Oval 31"/>
          <p:cNvSpPr/>
          <p:nvPr/>
        </p:nvSpPr>
        <p:spPr>
          <a:xfrm>
            <a:off x="594360" y="5312664"/>
            <a:ext cx="384048" cy="384048"/>
          </a:xfrm>
          <a:prstGeom prst="ellipse">
            <a:avLst/>
          </a:prstGeom>
          <a:noFill/>
          <a:ln w="22225">
            <a:solidFill>
              <a:srgbClr val="9B7B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B7BF6"/>
                </a:solidFill>
                <a:latin typeface="Arial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330952"/>
            <a:ext cx="1040861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F4F6F8"/>
                </a:solidFill>
                <a:latin typeface="Arial"/>
              </a:rPr>
              <a:t>Transaction proceeds — the sponsee never needed DUST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1737360"/>
            <a:ext cx="52120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720840" y="1554480"/>
            <a:ext cx="5440680" cy="4160520"/>
          </a:xfrm>
          <a:prstGeom prst="roundRect">
            <a:avLst>
              <a:gd name="adj" fmla="val 6000"/>
            </a:avLst>
          </a:prstGeom>
          <a:solidFill>
            <a:srgbClr val="111722"/>
          </a:solidFill>
          <a:ln w="9525">
            <a:solidFill>
              <a:srgbClr val="27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173736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DD4BF"/>
                </a:solidFill>
                <a:latin typeface="Arial"/>
              </a:rPr>
              <a:t>STEPS 1–5 · on-chain, contract-enforced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02336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B7BF6"/>
                </a:solidFill>
                <a:latin typeface="Arial"/>
              </a:rPr>
              <a:t>STEPS 6–7 · wallet layer, not the contract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2148840"/>
            <a:ext cx="4892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B94A3"/>
                </a:solidFill>
                <a:latin typeface="Arial"/>
              </a:rPr>
              <a:t>register() and authorize() are the only two circuits that touch ledger state. Everything here is what the SIMULATED test suite exercises directly.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434840"/>
            <a:ext cx="4892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B94A3"/>
                </a:solidFill>
                <a:latin typeface="Arial"/>
              </a:rPr>
              <a:t>The contract has no way to read or move DUST. Fee balancing happens through the wallet's own transaction-balancing mechanism, confirmed to exist but not yet driven end to 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>
                <a:latin typeface="Arial"/>
              </a:defRPr>
            </a:pPr>
            <a:r>
              <a:rPr sz="1200" b="1" i="0">
                <a:solidFill>
                  <a:srgbClr val="2DD4BF"/>
                </a:solidFill>
                <a:latin typeface="Arial"/>
              </a:rPr>
              <a:t>WHY MIDNIGHT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4F6F8"/>
                </a:solidFill>
                <a:latin typeface="Arial"/>
              </a:rPr>
              <a:t>Native primitives vs. our composition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89888"/>
            <a:ext cx="11002975" cy="0"/>
          </a:xfrm>
          <a:prstGeom prst="line">
            <a:avLst/>
          </a:prstGeom>
          <a:ln w="12700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473"/>
                </a:solidFill>
                <a:latin typeface="Arial"/>
              </a:rPr>
              <a:t>SPONSORSHIP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3"/>
                </a:solidFill>
                <a:latin typeface="Arial"/>
              </a:rPr>
              <a:t>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272887" cy="4434840"/>
          </a:xfrm>
          <a:prstGeom prst="roundRect">
            <a:avLst>
              <a:gd name="adj" fmla="val 5000"/>
            </a:avLst>
          </a:prstGeom>
          <a:solidFill>
            <a:srgbClr val="111722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47242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Arial"/>
              </a:rPr>
              <a:t>FROM MIDNIGHT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496312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2414016"/>
            <a:ext cx="44865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4F6F8"/>
                </a:solidFill>
                <a:latin typeface="Arial"/>
              </a:rPr>
              <a:t>Compact ZK circuits &amp; private witnesses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999232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2916936"/>
            <a:ext cx="44865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4F6F8"/>
                </a:solidFill>
                <a:latin typeface="Arial"/>
              </a:rPr>
              <a:t>Sealed / public ledger state split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02152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3419856"/>
            <a:ext cx="44865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4F6F8"/>
                </a:solidFill>
                <a:latin typeface="Arial"/>
              </a:rPr>
              <a:t>persistentCommit / persistentHash nullifiers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005072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" y="3922776"/>
            <a:ext cx="44865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4F6F8"/>
                </a:solidFill>
                <a:latin typeface="Arial"/>
              </a:rPr>
              <a:t>DUST — shielded, non-transferable fee capacity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507992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6424" y="4425696"/>
            <a:ext cx="44865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4F6F8"/>
                </a:solidFill>
                <a:latin typeface="Arial"/>
              </a:rPr>
              <a:t>Third-party transaction balancing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5010912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6424" y="4928616"/>
            <a:ext cx="44865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4F6F8"/>
                </a:solidFill>
                <a:latin typeface="Arial"/>
              </a:rPr>
              <a:t>Contract communications commitment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5513832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6424" y="5431536"/>
            <a:ext cx="44865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4F6F8"/>
                </a:solidFill>
                <a:latin typeface="Arial"/>
              </a:rPr>
              <a:t>Wallet / provider infrastructure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4447" y="1691640"/>
            <a:ext cx="5272887" cy="4434840"/>
          </a:xfrm>
          <a:prstGeom prst="roundRect">
            <a:avLst>
              <a:gd name="adj" fmla="val 5000"/>
            </a:avLst>
          </a:prstGeom>
          <a:solidFill>
            <a:srgbClr val="111722"/>
          </a:solidFill>
          <a:ln w="15875">
            <a:solidFill>
              <a:srgbClr val="9B7B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8767" y="1920240"/>
            <a:ext cx="47242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B7BF6"/>
                </a:solidFill>
                <a:latin typeface="Arial"/>
              </a:rPr>
              <a:t>OUR COMPOSITION</a:t>
            </a:r>
          </a:p>
        </p:txBody>
      </p:sp>
      <p:sp>
        <p:nvSpPr>
          <p:cNvPr id="26" name="Oval 25"/>
          <p:cNvSpPr/>
          <p:nvPr/>
        </p:nvSpPr>
        <p:spPr>
          <a:xfrm>
            <a:off x="6598767" y="2496312"/>
            <a:ext cx="109728" cy="109728"/>
          </a:xfrm>
          <a:prstGeom prst="ellipse">
            <a:avLst/>
          </a:prstGeom>
          <a:solidFill>
            <a:srgbClr val="9B7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6511" y="2414016"/>
            <a:ext cx="44865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4F6F8"/>
                </a:solidFill>
                <a:latin typeface="Arial"/>
              </a:rPr>
              <a:t>PoW-gated anonymous registration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598767" y="2999232"/>
            <a:ext cx="109728" cy="109728"/>
          </a:xfrm>
          <a:prstGeom prst="ellipse">
            <a:avLst/>
          </a:prstGeom>
          <a:solidFill>
            <a:srgbClr val="9B7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6511" y="2916936"/>
            <a:ext cx="44865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4F6F8"/>
                </a:solidFill>
                <a:latin typeface="Arial"/>
              </a:rPr>
              <a:t>Epoch-scoped nullifier rate limiting</a:t>
            </a:r>
          </a:p>
        </p:txBody>
      </p:sp>
      <p:sp>
        <p:nvSpPr>
          <p:cNvPr id="30" name="Oval 29"/>
          <p:cNvSpPr/>
          <p:nvPr/>
        </p:nvSpPr>
        <p:spPr>
          <a:xfrm>
            <a:off x="6598767" y="3502152"/>
            <a:ext cx="109728" cy="109728"/>
          </a:xfrm>
          <a:prstGeom prst="ellipse">
            <a:avLst/>
          </a:prstGeom>
          <a:solidFill>
            <a:srgbClr val="9B7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6511" y="3419856"/>
            <a:ext cx="44865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4F6F8"/>
                </a:solidFill>
                <a:latin typeface="Arial"/>
              </a:rPr>
              <a:t>Sponsor / sponsee trust-boundary model</a:t>
            </a:r>
          </a:p>
        </p:txBody>
      </p:sp>
      <p:sp>
        <p:nvSpPr>
          <p:cNvPr id="32" name="Oval 31"/>
          <p:cNvSpPr/>
          <p:nvPr/>
        </p:nvSpPr>
        <p:spPr>
          <a:xfrm>
            <a:off x="6598767" y="4005072"/>
            <a:ext cx="109728" cy="109728"/>
          </a:xfrm>
          <a:prstGeom prst="ellipse">
            <a:avLst/>
          </a:prstGeom>
          <a:solidFill>
            <a:srgbClr val="9B7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6511" y="3922776"/>
            <a:ext cx="44865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4F6F8"/>
                </a:solidFill>
                <a:latin typeface="Arial"/>
              </a:rPr>
              <a:t>Transaction-inspection requirement for sponsors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98767" y="4709160"/>
            <a:ext cx="472424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B94A3"/>
                </a:solidFill>
                <a:latin typeface="Arial"/>
              </a:rPr>
              <a:t>Neither PoW-as-sybil-cost nor nullifier rate-limiting is new cryptography. The contribution is this composition, using primitives Midnight already ships natively instead of retrofitting them on a transparent chain.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>
                <a:latin typeface="Arial"/>
              </a:defRPr>
            </a:pPr>
            <a:r>
              <a:rPr sz="1200" b="1" i="0">
                <a:solidFill>
                  <a:srgbClr val="2DD4BF"/>
                </a:solidFill>
                <a:latin typeface="Arial"/>
              </a:rPr>
              <a:t>SECURITY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4F6F8"/>
                </a:solidFill>
                <a:latin typeface="Arial"/>
              </a:rPr>
              <a:t>Enforced by the protocol vs. left to the sponsor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89888"/>
            <a:ext cx="11002975" cy="0"/>
          </a:xfrm>
          <a:prstGeom prst="line">
            <a:avLst/>
          </a:prstGeom>
          <a:ln w="12700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473"/>
                </a:solidFill>
                <a:latin typeface="Arial"/>
              </a:rPr>
              <a:t>SPONSORSHIP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3"/>
                </a:solidFill>
                <a:latin typeface="Arial"/>
              </a:rPr>
              <a:t>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6766560" cy="4434840"/>
          </a:xfrm>
          <a:prstGeom prst="roundRect">
            <a:avLst>
              <a:gd name="adj" fmla="val 5000"/>
            </a:avLst>
          </a:prstGeom>
          <a:solidFill>
            <a:srgbClr val="111722"/>
          </a:solidFill>
          <a:ln w="9525">
            <a:solidFill>
              <a:srgbClr val="27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92808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DD4BF"/>
                </a:solidFill>
                <a:latin typeface="Arial"/>
              </a:rPr>
              <a:t>TESTED PROTOCOL GUARANTEES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377440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2295144"/>
            <a:ext cx="5980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4F6F8"/>
                </a:solidFill>
                <a:latin typeface="Arial"/>
              </a:rPr>
              <a:t>PoW is bound to the registration secret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793492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2711196"/>
            <a:ext cx="5980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4F6F8"/>
                </a:solidFill>
                <a:latin typeface="Arial"/>
              </a:rPr>
              <a:t>No duplicate registration, even with a fresh nonce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209544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3127248"/>
            <a:ext cx="5980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4F6F8"/>
                </a:solidFill>
                <a:latin typeface="Arial"/>
              </a:rPr>
              <a:t>One authorization per pool, per epoch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625596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" y="3543300"/>
            <a:ext cx="5980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4F6F8"/>
                </a:solidFill>
                <a:latin typeface="Arial"/>
              </a:rPr>
              <a:t>The same secret authorizes again next epoch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041648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6424" y="3959352"/>
            <a:ext cx="5980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4F6F8"/>
                </a:solidFill>
                <a:latin typeface="Arial"/>
              </a:rPr>
              <a:t>No replay across independently deployed pools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457700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6424" y="4375404"/>
            <a:ext cx="5980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4F6F8"/>
                </a:solidFill>
                <a:latin typeface="Arial"/>
              </a:rPr>
              <a:t>Out-of-window epochs are rejected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73752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6424" y="4791456"/>
            <a:ext cx="5980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4F6F8"/>
                </a:solidFill>
                <a:latin typeface="Arial"/>
              </a:rPr>
              <a:t>Inactive pools reject registration and authorization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5289804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6424" y="5207508"/>
            <a:ext cx="5980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4F6F8"/>
                </a:solidFill>
                <a:latin typeface="Arial"/>
              </a:rPr>
              <a:t>Only the genuine owner secret can deactivate a pool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5705856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6424" y="5623560"/>
            <a:ext cx="5980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4F6F8"/>
                </a:solidFill>
                <a:latin typeface="Arial"/>
              </a:rPr>
              <a:t>Competing authorizations collapse to one replay check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80" y="1691640"/>
            <a:ext cx="3870655" cy="2011680"/>
          </a:xfrm>
          <a:prstGeom prst="roundRect">
            <a:avLst>
              <a:gd name="adj" fmla="val 6000"/>
            </a:avLst>
          </a:prstGeom>
          <a:solidFill>
            <a:srgbClr val="161D2A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0" y="1874520"/>
            <a:ext cx="3413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5A62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2286000"/>
            <a:ext cx="3413455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4F6F8"/>
                </a:solidFill>
                <a:latin typeface="Arial"/>
              </a:rPr>
              <a:t>A nullifier alone is not proof of which transaction produced it. The sponsor must inspect the candidate transaction's own authorization effect before balancing it.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80" y="3977640"/>
            <a:ext cx="3870655" cy="2148840"/>
          </a:xfrm>
          <a:prstGeom prst="roundRect">
            <a:avLst>
              <a:gd name="adj" fmla="val 6000"/>
            </a:avLst>
          </a:prstGeom>
          <a:solidFill>
            <a:srgbClr val="111722"/>
          </a:solidFill>
          <a:ln w="9525">
            <a:solidFill>
              <a:srgbClr val="27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0" y="4114800"/>
            <a:ext cx="34134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DD4BF"/>
                </a:solidFill>
                <a:latin typeface="Arial"/>
              </a:rPr>
              <a:t>16 / 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0" y="4754880"/>
            <a:ext cx="341345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8B94A3"/>
                </a:solidFill>
                <a:latin typeface="Arial"/>
              </a:rPr>
              <a:t>tests passing — SIMULATED, against the compiled circuit with --skip-zk. Includes the authorization-binding adversarial suite above.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>
                <a:latin typeface="Arial"/>
              </a:defRPr>
            </a:pPr>
            <a:r>
              <a:rPr sz="1200" b="1" i="0">
                <a:solidFill>
                  <a:srgbClr val="2DD4BF"/>
                </a:solidFill>
                <a:latin typeface="Arial"/>
              </a:rPr>
              <a:t>WHAT WE ACTUALLY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4F6F8"/>
                </a:solidFill>
                <a:latin typeface="Arial"/>
              </a:rPr>
              <a:t>Concrete artifacts, not a concept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89888"/>
            <a:ext cx="11002975" cy="0"/>
          </a:xfrm>
          <a:prstGeom prst="line">
            <a:avLst/>
          </a:prstGeom>
          <a:ln w="12700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473"/>
                </a:solidFill>
                <a:latin typeface="Arial"/>
              </a:rPr>
              <a:t>SPONSORSHIP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3"/>
                </a:solidFill>
                <a:latin typeface="Arial"/>
              </a:rPr>
              <a:t>7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423818" cy="1965960"/>
          </a:xfrm>
          <a:prstGeom prst="roundRect">
            <a:avLst>
              <a:gd name="adj" fmla="val 7000"/>
            </a:avLst>
          </a:prstGeom>
          <a:solidFill>
            <a:srgbClr val="111722"/>
          </a:solidFill>
          <a:ln w="9525">
            <a:solidFill>
              <a:srgbClr val="27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74520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Consolas"/>
              </a:rPr>
              <a:t>sponsorship-gate.compact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77440"/>
            <a:ext cx="302148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B94A3"/>
                </a:solidFill>
                <a:latin typeface="Arial"/>
              </a:rPr>
              <a:t>On-chain gate: PoW-gated registration, epoch-scoped authorization, owner deactivation.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3938" y="1691640"/>
            <a:ext cx="3423818" cy="1965960"/>
          </a:xfrm>
          <a:prstGeom prst="roundRect">
            <a:avLst>
              <a:gd name="adj" fmla="val 7000"/>
            </a:avLst>
          </a:prstGeom>
          <a:solidFill>
            <a:srgbClr val="111722"/>
          </a:solidFill>
          <a:ln w="9525">
            <a:solidFill>
              <a:srgbClr val="27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5106" y="1874520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Consolas"/>
              </a:rPr>
              <a:t>witnesses.ts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5106" y="2377440"/>
            <a:ext cx="302148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B94A3"/>
                </a:solidFill>
                <a:latin typeface="Arial"/>
              </a:rPr>
              <a:t>Production sponsee witness implementation — local secret, never transmitted.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3516" y="1691640"/>
            <a:ext cx="3423818" cy="1965960"/>
          </a:xfrm>
          <a:prstGeom prst="roundRect">
            <a:avLst>
              <a:gd name="adj" fmla="val 7000"/>
            </a:avLst>
          </a:prstGeom>
          <a:solidFill>
            <a:srgbClr val="111722"/>
          </a:solidFill>
          <a:ln w="9525">
            <a:solidFill>
              <a:srgbClr val="27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4684" y="1874520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Consolas"/>
              </a:rPr>
              <a:t>pow.ts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4684" y="2377440"/>
            <a:ext cx="302148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B94A3"/>
                </a:solidFill>
                <a:latin typeface="Arial"/>
              </a:rPr>
              <a:t>PoW nonce mining shared by tests and real clients — no duplicated hash logic.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77640"/>
            <a:ext cx="3423818" cy="1965960"/>
          </a:xfrm>
          <a:prstGeom prst="roundRect">
            <a:avLst>
              <a:gd name="adj" fmla="val 7000"/>
            </a:avLst>
          </a:prstGeom>
          <a:solidFill>
            <a:srgbClr val="111722"/>
          </a:solidFill>
          <a:ln w="9525">
            <a:solidFill>
              <a:srgbClr val="27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160520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Consolas"/>
              </a:rPr>
              <a:t>sponsor-policy.ts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663440"/>
            <a:ext cx="302148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B94A3"/>
                </a:solidFill>
                <a:latin typeface="Arial"/>
              </a:rPr>
              <a:t>Off-chain sponsor decision logic and the transaction-inspection requirement.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3938" y="3977640"/>
            <a:ext cx="3423818" cy="1965960"/>
          </a:xfrm>
          <a:prstGeom prst="roundRect">
            <a:avLst>
              <a:gd name="adj" fmla="val 7000"/>
            </a:avLst>
          </a:prstGeom>
          <a:solidFill>
            <a:srgbClr val="111722"/>
          </a:solidFill>
          <a:ln w="9525">
            <a:solidFill>
              <a:srgbClr val="27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5106" y="4160520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Arial"/>
              </a:rPr>
              <a:t>Adversarial test 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5106" y="4663440"/>
            <a:ext cx="302148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B94A3"/>
                </a:solidFill>
                <a:latin typeface="Arial"/>
              </a:rPr>
              <a:t>16/16 tests: replay, cross-pool, epoch, ownership, and nullifier-binding attacks.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73516" y="3977640"/>
            <a:ext cx="3423818" cy="1965960"/>
          </a:xfrm>
          <a:prstGeom prst="roundRect">
            <a:avLst>
              <a:gd name="adj" fmla="val 7000"/>
            </a:avLst>
          </a:prstGeom>
          <a:solidFill>
            <a:srgbClr val="111722"/>
          </a:solidFill>
          <a:ln w="9525">
            <a:solidFill>
              <a:srgbClr val="27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4684" y="4160520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Arial"/>
              </a:rPr>
              <a:t>Real local 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4684" y="4663440"/>
            <a:ext cx="302148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B94A3"/>
                </a:solidFill>
                <a:latin typeface="Arial"/>
              </a:rPr>
              <a:t>A real Midnight node, indexer, and proof server — run and confirmed healthy.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>
                <a:latin typeface="Arial"/>
              </a:defRPr>
            </a:pPr>
            <a:r>
              <a:rPr sz="1200" b="1" i="0">
                <a:solidFill>
                  <a:srgbClr val="2DD4BF"/>
                </a:solidFill>
                <a:latin typeface="Arial"/>
              </a:rPr>
              <a:t>EVIDENCE &amp; 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4F6F8"/>
                </a:solidFill>
                <a:latin typeface="Arial"/>
              </a:rPr>
              <a:t>Exactly what is verified, nothing more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89888"/>
            <a:ext cx="11002975" cy="0"/>
          </a:xfrm>
          <a:prstGeom prst="line">
            <a:avLst/>
          </a:prstGeom>
          <a:ln w="12700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473"/>
                </a:solidFill>
                <a:latin typeface="Arial"/>
              </a:rPr>
              <a:t>SPONSORSHIP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3"/>
                </a:solidFill>
                <a:latin typeface="Arial"/>
              </a:rPr>
              <a:t>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423818" cy="3931920"/>
          </a:xfrm>
          <a:prstGeom prst="roundRect">
            <a:avLst>
              <a:gd name="adj" fmla="val 5000"/>
            </a:avLst>
          </a:prstGeom>
          <a:solidFill>
            <a:srgbClr val="111722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92808"/>
            <a:ext cx="296661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DD4BF"/>
                </a:solidFill>
                <a:latin typeface="Arial"/>
              </a:rPr>
              <a:t>VERIFIED LOCAL</a:t>
            </a:r>
          </a:p>
        </p:txBody>
      </p:sp>
      <p:sp>
        <p:nvSpPr>
          <p:cNvPr id="10" name="Oval 9"/>
          <p:cNvSpPr/>
          <p:nvPr/>
        </p:nvSpPr>
        <p:spPr>
          <a:xfrm>
            <a:off x="850392" y="2496312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14016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4F6F8"/>
                </a:solidFill>
                <a:latin typeface="Arial"/>
              </a:rPr>
              <a:t>Real Midnight node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" y="2971800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9504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4F6F8"/>
                </a:solidFill>
                <a:latin typeface="Arial"/>
              </a:rPr>
              <a:t>Real indexer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" y="3447288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364992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4F6F8"/>
                </a:solidFill>
                <a:latin typeface="Arial"/>
              </a:rPr>
              <a:t>Real proof server</a:t>
            </a:r>
          </a:p>
        </p:txBody>
      </p:sp>
      <p:sp>
        <p:nvSpPr>
          <p:cNvPr id="16" name="Oval 15"/>
          <p:cNvSpPr/>
          <p:nvPr/>
        </p:nvSpPr>
        <p:spPr>
          <a:xfrm>
            <a:off x="850392" y="3922776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40480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4F6F8"/>
                </a:solidFill>
                <a:latin typeface="Arial"/>
              </a:rPr>
              <a:t>Real funded wallet (NIGHT + DUST)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" y="4398264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15968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4F6F8"/>
                </a:solidFill>
                <a:latin typeface="Arial"/>
              </a:rPr>
              <a:t>Real NIGHT transfer transaction</a:t>
            </a:r>
          </a:p>
        </p:txBody>
      </p:sp>
      <p:sp>
        <p:nvSpPr>
          <p:cNvPr id="20" name="Oval 19"/>
          <p:cNvSpPr/>
          <p:nvPr/>
        </p:nvSpPr>
        <p:spPr>
          <a:xfrm>
            <a:off x="850392" y="4873752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91456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4F6F8"/>
                </a:solidFill>
                <a:latin typeface="Arial"/>
              </a:rPr>
              <a:t>Real DUST registration transaction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3938" y="1691640"/>
            <a:ext cx="3423818" cy="3931920"/>
          </a:xfrm>
          <a:prstGeom prst="roundRect">
            <a:avLst>
              <a:gd name="adj" fmla="val 5000"/>
            </a:avLst>
          </a:prstGeom>
          <a:solidFill>
            <a:srgbClr val="111722"/>
          </a:solidFill>
          <a:ln w="19050">
            <a:solidFill>
              <a:srgbClr val="9B7B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2538" y="1892808"/>
            <a:ext cx="296661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9B7BF6"/>
                </a:solidFill>
                <a:latin typeface="Arial"/>
              </a:rPr>
              <a:t>VERIFIED SIMULATED</a:t>
            </a:r>
          </a:p>
        </p:txBody>
      </p:sp>
      <p:sp>
        <p:nvSpPr>
          <p:cNvPr id="24" name="Oval 23"/>
          <p:cNvSpPr/>
          <p:nvPr/>
        </p:nvSpPr>
        <p:spPr>
          <a:xfrm>
            <a:off x="4639970" y="2496312"/>
            <a:ext cx="109728" cy="109728"/>
          </a:xfrm>
          <a:prstGeom prst="ellipse">
            <a:avLst/>
          </a:prstGeom>
          <a:solidFill>
            <a:srgbClr val="9B7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6858" y="2414016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4F6F8"/>
                </a:solidFill>
                <a:latin typeface="Arial"/>
              </a:rPr>
              <a:t>16/16 protocol / circuit tests</a:t>
            </a:r>
          </a:p>
        </p:txBody>
      </p:sp>
      <p:sp>
        <p:nvSpPr>
          <p:cNvPr id="26" name="Oval 25"/>
          <p:cNvSpPr/>
          <p:nvPr/>
        </p:nvSpPr>
        <p:spPr>
          <a:xfrm>
            <a:off x="4639970" y="2971800"/>
            <a:ext cx="109728" cy="109728"/>
          </a:xfrm>
          <a:prstGeom prst="ellipse">
            <a:avLst/>
          </a:prstGeom>
          <a:solidFill>
            <a:srgbClr val="9B7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86858" y="2889504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4F6F8"/>
                </a:solidFill>
                <a:latin typeface="Arial"/>
              </a:rPr>
              <a:t>Authorization-binding adversarial tests</a:t>
            </a:r>
          </a:p>
        </p:txBody>
      </p:sp>
      <p:sp>
        <p:nvSpPr>
          <p:cNvPr id="28" name="Oval 27"/>
          <p:cNvSpPr/>
          <p:nvPr/>
        </p:nvSpPr>
        <p:spPr>
          <a:xfrm>
            <a:off x="4639970" y="3447288"/>
            <a:ext cx="109728" cy="109728"/>
          </a:xfrm>
          <a:prstGeom prst="ellipse">
            <a:avLst/>
          </a:prstGeom>
          <a:solidFill>
            <a:srgbClr val="9B7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86858" y="3364992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4F6F8"/>
                </a:solidFill>
                <a:latin typeface="Arial"/>
              </a:rPr>
              <a:t>Compiled circuit, --skip-zk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73516" y="1691640"/>
            <a:ext cx="3423818" cy="3931920"/>
          </a:xfrm>
          <a:prstGeom prst="roundRect">
            <a:avLst>
              <a:gd name="adj" fmla="val 5000"/>
            </a:avLst>
          </a:prstGeom>
          <a:solidFill>
            <a:srgbClr val="111722"/>
          </a:solidFill>
          <a:ln w="19050">
            <a:solidFill>
              <a:srgbClr val="E0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2116" y="1892808"/>
            <a:ext cx="296661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06B6B"/>
                </a:solidFill>
                <a:latin typeface="Arial"/>
              </a:rPr>
              <a:t>NOT YET COMPLETED</a:t>
            </a:r>
          </a:p>
        </p:txBody>
      </p:sp>
      <p:sp>
        <p:nvSpPr>
          <p:cNvPr id="32" name="Oval 31"/>
          <p:cNvSpPr/>
          <p:nvPr/>
        </p:nvSpPr>
        <p:spPr>
          <a:xfrm>
            <a:off x="8429548" y="2496312"/>
            <a:ext cx="109728" cy="109728"/>
          </a:xfrm>
          <a:prstGeom prst="ellipse">
            <a:avLst/>
          </a:prstGeom>
          <a:solidFill>
            <a:srgbClr val="E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76436" y="2414016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4F6F8"/>
                </a:solidFill>
                <a:latin typeface="Arial"/>
              </a:rPr>
              <a:t>Contract deployment</a:t>
            </a:r>
          </a:p>
        </p:txBody>
      </p:sp>
      <p:sp>
        <p:nvSpPr>
          <p:cNvPr id="34" name="Oval 33"/>
          <p:cNvSpPr/>
          <p:nvPr/>
        </p:nvSpPr>
        <p:spPr>
          <a:xfrm>
            <a:off x="8429548" y="2971800"/>
            <a:ext cx="109728" cy="109728"/>
          </a:xfrm>
          <a:prstGeom prst="ellipse">
            <a:avLst/>
          </a:prstGeom>
          <a:solidFill>
            <a:srgbClr val="E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76436" y="2889504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4F6F8"/>
                </a:solidFill>
                <a:latin typeface="Arial"/>
              </a:rPr>
              <a:t>Real contract interaction</a:t>
            </a:r>
          </a:p>
        </p:txBody>
      </p:sp>
      <p:sp>
        <p:nvSpPr>
          <p:cNvPr id="36" name="Oval 35"/>
          <p:cNvSpPr/>
          <p:nvPr/>
        </p:nvSpPr>
        <p:spPr>
          <a:xfrm>
            <a:off x="8429548" y="3447288"/>
            <a:ext cx="109728" cy="109728"/>
          </a:xfrm>
          <a:prstGeom prst="ellipse">
            <a:avLst/>
          </a:prstGeom>
          <a:solidFill>
            <a:srgbClr val="E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76436" y="3364992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4F6F8"/>
                </a:solidFill>
                <a:latin typeface="Arial"/>
              </a:rPr>
              <a:t>Two-party sponsored transaction</a:t>
            </a:r>
          </a:p>
        </p:txBody>
      </p:sp>
      <p:sp>
        <p:nvSpPr>
          <p:cNvPr id="38" name="Oval 37"/>
          <p:cNvSpPr/>
          <p:nvPr/>
        </p:nvSpPr>
        <p:spPr>
          <a:xfrm>
            <a:off x="8429548" y="3922776"/>
            <a:ext cx="109728" cy="109728"/>
          </a:xfrm>
          <a:prstGeom prst="ellipse">
            <a:avLst/>
          </a:prstGeom>
          <a:solidFill>
            <a:srgbClr val="E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76436" y="3840480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4F6F8"/>
                </a:solidFill>
                <a:latin typeface="Arial"/>
              </a:rPr>
              <a:t>Preprod 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852160"/>
            <a:ext cx="110029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5A623"/>
                </a:solidFill>
                <a:latin typeface="Arial"/>
              </a:rPr>
              <a:t>No LIVE transaction has been completed.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>
                <a:latin typeface="Arial"/>
              </a:defRPr>
            </a:pPr>
            <a:r>
              <a:rPr sz="1200" b="1" i="0">
                <a:solidFill>
                  <a:srgbClr val="2DD4BF"/>
                </a:solidFill>
                <a:latin typeface="Arial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4F6F8"/>
                </a:solidFill>
                <a:latin typeface="Arial"/>
              </a:rPr>
              <a:t>The broader infrastructure gap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89888"/>
            <a:ext cx="11002975" cy="0"/>
          </a:xfrm>
          <a:prstGeom prst="line">
            <a:avLst/>
          </a:prstGeom>
          <a:ln w="12700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473"/>
                </a:solidFill>
                <a:latin typeface="Arial"/>
              </a:rPr>
              <a:t>SPONSORSHIP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3"/>
                </a:solidFill>
                <a:latin typeface="Arial"/>
              </a:rPr>
              <a:t>9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100885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F4F6F8"/>
                </a:solidFill>
                <a:latin typeface="Arial"/>
              </a:rPr>
              <a:t>Private sponsorship should not require forcing every user into a publicly attributable relationship with whoever funds them.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794760"/>
            <a:ext cx="2926080" cy="0"/>
          </a:xfrm>
          <a:prstGeom prst="line">
            <a:avLst/>
          </a:prstGeom>
          <a:ln w="12700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4069080"/>
            <a:ext cx="1100297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8B94A3"/>
                </a:solidFill>
                <a:latin typeface="Arial"/>
              </a:rPr>
              <a:t>Ethereum's own ecosystem is retrofitting privacy onto account-abstraction paymasters after the fact — a draft ERC, a separate TEE-based workaround. Midnight already ships a shielded, non-transferable fee-capacity resource and third-party transaction balancing as base-layer primitives. Sponsorship Gate is what a sponsorship layer looks like when it's built on those primitives from the start, instead of bolted on afterward.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ative"/>
          <p:cNvSpPr/>
          <p:nvPr/>
        </p:nvSpPr>
        <p:spPr>
          <a:xfrm>
            <a:off x="-1371600" y="2926080"/>
            <a:ext cx="5486400" cy="5486400"/>
          </a:xfrm>
          <a:prstGeom prst="ellipse">
            <a:avLst/>
          </a:prstGeom>
          <a:solidFill>
            <a:srgbClr val="0E1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3774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4F6F8"/>
                </a:solidFill>
                <a:latin typeface="Arial"/>
              </a:rPr>
              <a:t>Sponsorship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337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2DD4BF"/>
                </a:solidFill>
                <a:latin typeface="Arial"/>
              </a:rPr>
              <a:t>Private sponsorship should be a protocol primitive, not an identity leak.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4434840"/>
            <a:ext cx="4206240" cy="0"/>
          </a:xfrm>
          <a:prstGeom prst="line">
            <a:avLst/>
          </a:prstGeom>
          <a:ln w="12700">
            <a:solidFill>
              <a:srgbClr val="2730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46177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9B7BF6"/>
                </a:solidFill>
                <a:latin typeface="Arial"/>
              </a:rPr>
              <a:t>SIMULATED: 16/16 tests passing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2DD4BF"/>
                </a:solidFill>
                <a:latin typeface="Arial"/>
              </a:rPr>
              <a:t>LOCAL: real Midnight infrastructure verified, wallet funded on-chain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8B94A3"/>
                </a:solidFill>
                <a:latin typeface="Arial"/>
              </a:rPr>
              <a:t>Not yet LIVE — deployment and the two-party sponsored transaction are the next 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9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473"/>
                </a:solidFill>
                <a:latin typeface="Arial"/>
              </a:rPr>
              <a:t>BUILT ON MIDNIGHT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