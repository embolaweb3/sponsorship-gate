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ecorative"/>
          <p:cNvSpPr/>
          <p:nvPr/>
        </p:nvSpPr>
        <p:spPr>
          <a:xfrm>
            <a:off x="8778240" y="-1280160"/>
            <a:ext cx="5486400" cy="5486400"/>
          </a:xfrm>
          <a:prstGeom prst="ellipse">
            <a:avLst/>
          </a:prstGeom>
          <a:solidFill>
            <a:srgbClr val="0E1C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828800" y="1828800"/>
            <a:ext cx="256032" cy="256032"/>
          </a:xfrm>
          <a:prstGeom prst="ellipse">
            <a:avLst/>
          </a:prstGeom>
          <a:noFill/>
          <a:ln w="28575">
            <a:solidFill>
              <a:srgbClr val="9B7B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4663440" y="1828800"/>
            <a:ext cx="256032" cy="256032"/>
          </a:xfrm>
          <a:prstGeom prst="ellipse">
            <a:avLst/>
          </a:prstGeom>
          <a:noFill/>
          <a:ln w="285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Diamond 5"/>
          <p:cNvSpPr/>
          <p:nvPr/>
        </p:nvSpPr>
        <p:spPr>
          <a:xfrm>
            <a:off x="2999232" y="1682496"/>
            <a:ext cx="548640" cy="548640"/>
          </a:xfrm>
          <a:prstGeom prst="diamond">
            <a:avLst/>
          </a:prstGeom>
          <a:solidFill>
            <a:srgbClr val="0A0E16"/>
          </a:solidFill>
          <a:ln w="25400">
            <a:solidFill>
              <a:srgbClr val="F4F6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 name="Connector 6"/>
          <p:cNvCxnSpPr/>
          <p:nvPr/>
        </p:nvCxnSpPr>
        <p:spPr>
          <a:xfrm>
            <a:off x="2084832" y="1956816.0"/>
            <a:ext cx="914400" cy="0.0"/>
          </a:xfrm>
          <a:prstGeom prst="line">
            <a:avLst/>
          </a:prstGeom>
          <a:ln w="19050">
            <a:solidFill>
              <a:srgbClr val="8B94A3"/>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547872" y="1956816.0"/>
            <a:ext cx="1115568" cy="0.0"/>
          </a:xfrm>
          <a:prstGeom prst="line">
            <a:avLst/>
          </a:prstGeom>
          <a:ln w="19050">
            <a:solidFill>
              <a:srgbClr val="8B9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94360" y="2606040"/>
            <a:ext cx="10058400" cy="914400"/>
          </a:xfrm>
          <a:prstGeom prst="rect">
            <a:avLst/>
          </a:prstGeom>
          <a:noFill/>
        </p:spPr>
        <p:txBody>
          <a:bodyPr wrap="square" anchor="t" lIns="0" rIns="0" tIns="0" bIns="0">
            <a:spAutoFit/>
          </a:bodyPr>
          <a:lstStyle/>
          <a:p>
            <a:pPr algn="l">
              <a:lnSpc>
                <a:spcPct val="100000"/>
              </a:lnSpc>
            </a:pPr>
            <a:r>
              <a:rPr sz="5400" b="1" i="0">
                <a:solidFill>
                  <a:srgbClr val="F4F6F8"/>
                </a:solidFill>
                <a:latin typeface="Arial"/>
              </a:rPr>
              <a:t>Sponsorship Gate</a:t>
            </a:r>
          </a:p>
        </p:txBody>
      </p:sp>
      <p:sp>
        <p:nvSpPr>
          <p:cNvPr id="10" name="TextBox 9"/>
          <p:cNvSpPr txBox="1"/>
          <p:nvPr/>
        </p:nvSpPr>
        <p:spPr>
          <a:xfrm>
            <a:off x="594360" y="3474720"/>
            <a:ext cx="10515600" cy="548640"/>
          </a:xfrm>
          <a:prstGeom prst="rect">
            <a:avLst/>
          </a:prstGeom>
          <a:noFill/>
        </p:spPr>
        <p:txBody>
          <a:bodyPr wrap="square" anchor="t" lIns="0" rIns="0" tIns="0" bIns="0">
            <a:spAutoFit/>
          </a:bodyPr>
          <a:lstStyle/>
          <a:p>
            <a:pPr algn="l">
              <a:lnSpc>
                <a:spcPct val="100000"/>
              </a:lnSpc>
            </a:pPr>
            <a:r>
              <a:rPr sz="2000" b="0" i="0">
                <a:solidFill>
                  <a:srgbClr val="2DD4BF"/>
                </a:solidFill>
                <a:latin typeface="Arial"/>
              </a:rPr>
              <a:t>Wave 2: we found a privacy leak in our own contract, fixed it, and proved it on a real chain</a:t>
            </a:r>
          </a:p>
        </p:txBody>
      </p:sp>
      <p:sp>
        <p:nvSpPr>
          <p:cNvPr id="11" name="TextBox 10"/>
          <p:cNvSpPr txBox="1"/>
          <p:nvPr/>
        </p:nvSpPr>
        <p:spPr>
          <a:xfrm>
            <a:off x="594360" y="4069080"/>
            <a:ext cx="10058400" cy="457200"/>
          </a:xfrm>
          <a:prstGeom prst="rect">
            <a:avLst/>
          </a:prstGeom>
          <a:noFill/>
        </p:spPr>
        <p:txBody>
          <a:bodyPr wrap="square" anchor="t" lIns="0" rIns="0" tIns="0" bIns="0">
            <a:spAutoFit/>
          </a:bodyPr>
          <a:lstStyle/>
          <a:p>
            <a:pPr algn="l">
              <a:lnSpc>
                <a:spcPct val="100000"/>
              </a:lnSpc>
            </a:pPr>
            <a:r>
              <a:rPr sz="1400" b="0" i="0">
                <a:solidFill>
                  <a:srgbClr val="8B94A3"/>
                </a:solidFill>
                <a:latin typeface="Arial"/>
              </a:rPr>
              <a:t>Anonymous, rate-limited fee sponsorship for Midnight</a:t>
            </a:r>
          </a:p>
        </p:txBody>
      </p:sp>
      <p:cxnSp>
        <p:nvCxnSpPr>
          <p:cNvPr id="12" name="Connector 11"/>
          <p:cNvCxnSpPr/>
          <p:nvPr/>
        </p:nvCxnSpPr>
        <p:spPr>
          <a:xfrm>
            <a:off x="594360" y="4846320"/>
            <a:ext cx="4206240"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4360" y="5074920"/>
            <a:ext cx="2318004" cy="384048"/>
          </a:xfrm>
          <a:prstGeom prst="roundRect">
            <a:avLst>
              <a:gd name="adj" fmla="val 50000"/>
            </a:avLst>
          </a:prstGeom>
          <a:solidFill>
            <a:srgbClr val="11172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5074920"/>
            <a:ext cx="2318004" cy="384048"/>
          </a:xfrm>
          <a:prstGeom prst="rect">
            <a:avLst/>
          </a:prstGeom>
          <a:noFill/>
        </p:spPr>
        <p:txBody>
          <a:bodyPr wrap="square" anchor="ctr" lIns="0" rIns="0" tIns="0" bIns="0">
            <a:spAutoFit/>
          </a:bodyPr>
          <a:lstStyle/>
          <a:p>
            <a:pPr algn="ctr">
              <a:lnSpc>
                <a:spcPct val="100000"/>
              </a:lnSpc>
            </a:pPr>
            <a:r>
              <a:rPr sz="1100" b="1" i="0">
                <a:solidFill>
                  <a:srgbClr val="F4F6F8"/>
                </a:solidFill>
                <a:latin typeface="Arial"/>
              </a:rPr>
              <a:t>70 automated checks</a:t>
            </a:r>
          </a:p>
        </p:txBody>
      </p:sp>
      <p:sp>
        <p:nvSpPr>
          <p:cNvPr id="15" name="Rounded Rectangle 14"/>
          <p:cNvSpPr/>
          <p:nvPr/>
        </p:nvSpPr>
        <p:spPr>
          <a:xfrm>
            <a:off x="3095244" y="5074920"/>
            <a:ext cx="2843784" cy="384048"/>
          </a:xfrm>
          <a:prstGeom prst="roundRect">
            <a:avLst>
              <a:gd name="adj" fmla="val 50000"/>
            </a:avLst>
          </a:prstGeom>
          <a:solidFill>
            <a:srgbClr val="111722"/>
          </a:solidFill>
          <a:ln w="1270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095244" y="5074920"/>
            <a:ext cx="2843784" cy="384048"/>
          </a:xfrm>
          <a:prstGeom prst="rect">
            <a:avLst/>
          </a:prstGeom>
          <a:noFill/>
        </p:spPr>
        <p:txBody>
          <a:bodyPr wrap="square" anchor="ctr" lIns="0" rIns="0" tIns="0" bIns="0">
            <a:spAutoFit/>
          </a:bodyPr>
          <a:lstStyle/>
          <a:p>
            <a:pPr algn="ctr">
              <a:lnSpc>
                <a:spcPct val="100000"/>
              </a:lnSpc>
            </a:pPr>
            <a:r>
              <a:rPr sz="1100" b="1" i="0">
                <a:solidFill>
                  <a:srgbClr val="F4F6F8"/>
                </a:solidFill>
                <a:latin typeface="Arial"/>
              </a:rPr>
              <a:t>real devnet transactions</a:t>
            </a:r>
          </a:p>
        </p:txBody>
      </p:sp>
      <p:sp>
        <p:nvSpPr>
          <p:cNvPr id="17" name="Rounded Rectangle 16"/>
          <p:cNvSpPr/>
          <p:nvPr/>
        </p:nvSpPr>
        <p:spPr>
          <a:xfrm>
            <a:off x="6121908" y="5074920"/>
            <a:ext cx="3369564" cy="384048"/>
          </a:xfrm>
          <a:prstGeom prst="roundRect">
            <a:avLst>
              <a:gd name="adj" fmla="val 50000"/>
            </a:avLst>
          </a:prstGeom>
          <a:solidFill>
            <a:srgbClr val="111722"/>
          </a:solidFill>
          <a:ln w="12700">
            <a:solidFill>
              <a:srgbClr val="9B7B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21908" y="5074920"/>
            <a:ext cx="3369564" cy="384048"/>
          </a:xfrm>
          <a:prstGeom prst="rect">
            <a:avLst/>
          </a:prstGeom>
          <a:noFill/>
        </p:spPr>
        <p:txBody>
          <a:bodyPr wrap="square" anchor="ctr" lIns="0" rIns="0" tIns="0" bIns="0">
            <a:spAutoFit/>
          </a:bodyPr>
          <a:lstStyle/>
          <a:p>
            <a:pPr algn="ctr">
              <a:lnSpc>
                <a:spcPct val="100000"/>
              </a:lnSpc>
            </a:pPr>
            <a:r>
              <a:rPr sz="1100" b="1" i="0">
                <a:solidFill>
                  <a:srgbClr val="F4F6F8"/>
                </a:solidFill>
                <a:latin typeface="Arial"/>
              </a:rPr>
              <a:t>web console, no wallet needed</a:t>
            </a:r>
          </a:p>
        </p:txBody>
      </p:sp>
      <p:sp>
        <p:nvSpPr>
          <p:cNvPr id="19" name="TextBox 18"/>
          <p:cNvSpPr txBox="1"/>
          <p:nvPr/>
        </p:nvSpPr>
        <p:spPr>
          <a:xfrm>
            <a:off x="594360" y="6263640"/>
            <a:ext cx="10972800" cy="320040"/>
          </a:xfrm>
          <a:prstGeom prst="rect">
            <a:avLst/>
          </a:prstGeom>
          <a:noFill/>
        </p:spPr>
        <p:txBody>
          <a:bodyPr wrap="square" anchor="t" lIns="0" rIns="0" tIns="0" bIns="0">
            <a:spAutoFit/>
          </a:bodyPr>
          <a:lstStyle/>
          <a:p>
            <a:pPr algn="l">
              <a:lnSpc>
                <a:spcPct val="100000"/>
              </a:lnSpc>
            </a:pPr>
            <a:r>
              <a:rPr sz="1100" b="0" i="1">
                <a:solidFill>
                  <a:srgbClr val="5B6473"/>
                </a:solidFill>
                <a:latin typeface="Arial"/>
              </a:rPr>
              <a:t>Status: SIMULATED (34 contract tests) · LOCAL real devnet (deploy + 3 sponsored txs) · LIVE (Preprod) not yet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RECAP</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The problem, in one line</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2 / 12</a:t>
            </a:r>
          </a:p>
        </p:txBody>
      </p:sp>
      <p:sp>
        <p:nvSpPr>
          <p:cNvPr id="8" name="TextBox 7"/>
          <p:cNvSpPr txBox="1"/>
          <p:nvPr/>
        </p:nvSpPr>
        <p:spPr>
          <a:xfrm>
            <a:off x="594360" y="1783080"/>
            <a:ext cx="11002975" cy="1280160"/>
          </a:xfrm>
          <a:prstGeom prst="rect">
            <a:avLst/>
          </a:prstGeom>
          <a:noFill/>
        </p:spPr>
        <p:txBody>
          <a:bodyPr wrap="square" anchor="t" lIns="0" rIns="0" tIns="0" bIns="0">
            <a:spAutoFit/>
          </a:bodyPr>
          <a:lstStyle/>
          <a:p>
            <a:pPr algn="l">
              <a:lnSpc>
                <a:spcPct val="120000"/>
              </a:lnSpc>
            </a:pPr>
            <a:r>
              <a:rPr sz="2400" b="0" i="0">
                <a:solidFill>
                  <a:srgbClr val="F4F6F8"/>
                </a:solidFill>
                <a:latin typeface="Arial"/>
              </a:rPr>
              <a:t>A new user has no funds, so someone must pay their first fee. On a transparent chain that payment is a permanent public record of who funded whom.</a:t>
            </a:r>
          </a:p>
        </p:txBody>
      </p:sp>
      <p:sp>
        <p:nvSpPr>
          <p:cNvPr id="9" name="Rounded Rectangle 8"/>
          <p:cNvSpPr/>
          <p:nvPr/>
        </p:nvSpPr>
        <p:spPr>
          <a:xfrm>
            <a:off x="594360" y="3566160"/>
            <a:ext cx="3423818" cy="219456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3730752"/>
            <a:ext cx="3021482"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Privacy</a:t>
            </a:r>
          </a:p>
        </p:txBody>
      </p:sp>
      <p:sp>
        <p:nvSpPr>
          <p:cNvPr id="11" name="TextBox 10"/>
          <p:cNvSpPr txBox="1"/>
          <p:nvPr/>
        </p:nvSpPr>
        <p:spPr>
          <a:xfrm>
            <a:off x="795528" y="4187952"/>
            <a:ext cx="3021482" cy="1463040"/>
          </a:xfrm>
          <a:prstGeom prst="rect">
            <a:avLst/>
          </a:prstGeom>
          <a:noFill/>
        </p:spPr>
        <p:txBody>
          <a:bodyPr wrap="square" anchor="t" lIns="0" rIns="0" tIns="0" bIns="0">
            <a:spAutoFit/>
          </a:bodyPr>
          <a:lstStyle/>
          <a:p>
            <a:pPr algn="l">
              <a:lnSpc>
                <a:spcPct val="125000"/>
              </a:lnSpc>
            </a:pPr>
            <a:r>
              <a:rPr sz="1300" b="0" i="0">
                <a:solidFill>
                  <a:srgbClr val="8B94A3"/>
                </a:solidFill>
                <a:latin typeface="Arial"/>
              </a:rPr>
              <a:t>The sponsor should never learn who they sponsored, and nobody should be able to group one person's requests.</a:t>
            </a:r>
          </a:p>
        </p:txBody>
      </p:sp>
      <p:sp>
        <p:nvSpPr>
          <p:cNvPr id="12" name="Rounded Rectangle 11"/>
          <p:cNvSpPr/>
          <p:nvPr/>
        </p:nvSpPr>
        <p:spPr>
          <a:xfrm>
            <a:off x="4383938" y="3566160"/>
            <a:ext cx="3423818" cy="219456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5106" y="3730752"/>
            <a:ext cx="3021482"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Abuse resistance</a:t>
            </a:r>
          </a:p>
        </p:txBody>
      </p:sp>
      <p:sp>
        <p:nvSpPr>
          <p:cNvPr id="14" name="TextBox 13"/>
          <p:cNvSpPr txBox="1"/>
          <p:nvPr/>
        </p:nvSpPr>
        <p:spPr>
          <a:xfrm>
            <a:off x="4585106" y="4187952"/>
            <a:ext cx="3021482" cy="1463040"/>
          </a:xfrm>
          <a:prstGeom prst="rect">
            <a:avLst/>
          </a:prstGeom>
          <a:noFill/>
        </p:spPr>
        <p:txBody>
          <a:bodyPr wrap="square" anchor="t" lIns="0" rIns="0" tIns="0" bIns="0">
            <a:spAutoFit/>
          </a:bodyPr>
          <a:lstStyle/>
          <a:p>
            <a:pPr algn="l">
              <a:lnSpc>
                <a:spcPct val="125000"/>
              </a:lnSpc>
            </a:pPr>
            <a:r>
              <a:rPr sz="1300" b="0" i="0">
                <a:solidFill>
                  <a:srgbClr val="8B94A3"/>
                </a:solidFill>
                <a:latin typeface="Arial"/>
              </a:rPr>
              <a:t>Anonymous plus free is an open drain. Each identity must cost something, and each request must be bounded.</a:t>
            </a:r>
          </a:p>
        </p:txBody>
      </p:sp>
      <p:sp>
        <p:nvSpPr>
          <p:cNvPr id="15" name="Rounded Rectangle 14"/>
          <p:cNvSpPr/>
          <p:nvPr/>
        </p:nvSpPr>
        <p:spPr>
          <a:xfrm>
            <a:off x="8173516" y="3566160"/>
            <a:ext cx="3423818" cy="219456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74684" y="3730752"/>
            <a:ext cx="3021482"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Sponsor safety</a:t>
            </a:r>
          </a:p>
        </p:txBody>
      </p:sp>
      <p:sp>
        <p:nvSpPr>
          <p:cNvPr id="17" name="TextBox 16"/>
          <p:cNvSpPr txBox="1"/>
          <p:nvPr/>
        </p:nvSpPr>
        <p:spPr>
          <a:xfrm>
            <a:off x="8374684" y="4187952"/>
            <a:ext cx="3021482" cy="1463040"/>
          </a:xfrm>
          <a:prstGeom prst="rect">
            <a:avLst/>
          </a:prstGeom>
          <a:noFill/>
        </p:spPr>
        <p:txBody>
          <a:bodyPr wrap="square" anchor="t" lIns="0" rIns="0" tIns="0" bIns="0">
            <a:spAutoFit/>
          </a:bodyPr>
          <a:lstStyle/>
          <a:p>
            <a:pPr algn="l">
              <a:lnSpc>
                <a:spcPct val="125000"/>
              </a:lnSpc>
            </a:pPr>
            <a:r>
              <a:rPr sz="1300" b="0" i="0">
                <a:solidFill>
                  <a:srgbClr val="8B94A3"/>
                </a:solidFill>
                <a:latin typeface="Arial"/>
              </a:rPr>
              <a:t>The sponsor pays real fees. It must only ever pay for exactly the call it agreed to.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WAVE 1 → WAVE 2</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What changed, and what we got wrong</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3 / 12</a:t>
            </a:r>
          </a:p>
        </p:txBody>
      </p:sp>
      <p:sp>
        <p:nvSpPr>
          <p:cNvPr id="8" name="Rounded Rectangle 7"/>
          <p:cNvSpPr/>
          <p:nvPr/>
        </p:nvSpPr>
        <p:spPr>
          <a:xfrm>
            <a:off x="594360" y="1737360"/>
            <a:ext cx="11002975" cy="96012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22960" y="2103120"/>
            <a:ext cx="182880" cy="182880"/>
          </a:xfrm>
          <a:prstGeom prst="ellipse">
            <a:avLst/>
          </a:prstGeom>
          <a:solidFill>
            <a:srgbClr val="9B7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2011680"/>
            <a:ext cx="1371600" cy="457200"/>
          </a:xfrm>
          <a:prstGeom prst="rect">
            <a:avLst/>
          </a:prstGeom>
          <a:noFill/>
        </p:spPr>
        <p:txBody>
          <a:bodyPr wrap="square" anchor="t" lIns="0" rIns="0" tIns="0" bIns="0">
            <a:spAutoFit/>
          </a:bodyPr>
          <a:lstStyle/>
          <a:p>
            <a:pPr algn="l">
              <a:lnSpc>
                <a:spcPct val="100000"/>
              </a:lnSpc>
            </a:pPr>
            <a:r>
              <a:rPr sz="1600" b="1" i="0">
                <a:solidFill>
                  <a:srgbClr val="8B94A3"/>
                </a:solidFill>
                <a:latin typeface="Arial"/>
              </a:rPr>
              <a:t>Wave 1</a:t>
            </a:r>
          </a:p>
        </p:txBody>
      </p:sp>
      <p:sp>
        <p:nvSpPr>
          <p:cNvPr id="11" name="TextBox 10"/>
          <p:cNvSpPr txBox="1"/>
          <p:nvPr/>
        </p:nvSpPr>
        <p:spPr>
          <a:xfrm>
            <a:off x="2697480" y="1883664"/>
            <a:ext cx="8625535" cy="731520"/>
          </a:xfrm>
          <a:prstGeom prst="rect">
            <a:avLst/>
          </a:prstGeom>
          <a:noFill/>
        </p:spPr>
        <p:txBody>
          <a:bodyPr wrap="square" anchor="ctr" lIns="0" rIns="0" tIns="0" bIns="0">
            <a:spAutoFit/>
          </a:bodyPr>
          <a:lstStyle/>
          <a:p>
            <a:pPr algn="l">
              <a:lnSpc>
                <a:spcPct val="120000"/>
              </a:lnSpc>
            </a:pPr>
            <a:r>
              <a:rPr sz="1350" b="0" i="0">
                <a:solidFill>
                  <a:srgbClr val="F4F6F8"/>
                </a:solidFill>
                <a:latin typeface="Arial"/>
              </a:rPr>
              <a:t>Contract + 16 simulated tests. Deployment never completed. No UI. A sponsor service that was only specified.</a:t>
            </a:r>
          </a:p>
        </p:txBody>
      </p:sp>
      <p:sp>
        <p:nvSpPr>
          <p:cNvPr id="12" name="Rounded Rectangle 11"/>
          <p:cNvSpPr/>
          <p:nvPr/>
        </p:nvSpPr>
        <p:spPr>
          <a:xfrm>
            <a:off x="594360" y="2834640"/>
            <a:ext cx="11002975" cy="96012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22960" y="3200400"/>
            <a:ext cx="182880" cy="182880"/>
          </a:xfrm>
          <a:prstGeom prst="ellipse">
            <a:avLst/>
          </a:prstGeom>
          <a:solidFill>
            <a:srgbClr val="E0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88720" y="3108960"/>
            <a:ext cx="1371600" cy="457200"/>
          </a:xfrm>
          <a:prstGeom prst="rect">
            <a:avLst/>
          </a:prstGeom>
          <a:noFill/>
        </p:spPr>
        <p:txBody>
          <a:bodyPr wrap="square" anchor="t" lIns="0" rIns="0" tIns="0" bIns="0">
            <a:spAutoFit/>
          </a:bodyPr>
          <a:lstStyle/>
          <a:p>
            <a:pPr algn="l">
              <a:lnSpc>
                <a:spcPct val="100000"/>
              </a:lnSpc>
            </a:pPr>
            <a:r>
              <a:rPr sz="1600" b="1" i="0">
                <a:solidFill>
                  <a:srgbClr val="E06B6B"/>
                </a:solidFill>
                <a:latin typeface="Arial"/>
              </a:rPr>
              <a:t>Found</a:t>
            </a:r>
          </a:p>
        </p:txBody>
      </p:sp>
      <p:sp>
        <p:nvSpPr>
          <p:cNvPr id="15" name="TextBox 14"/>
          <p:cNvSpPr txBox="1"/>
          <p:nvPr/>
        </p:nvSpPr>
        <p:spPr>
          <a:xfrm>
            <a:off x="2697480" y="2980944"/>
            <a:ext cx="8625535" cy="731520"/>
          </a:xfrm>
          <a:prstGeom prst="rect">
            <a:avLst/>
          </a:prstGeom>
          <a:noFill/>
        </p:spPr>
        <p:txBody>
          <a:bodyPr wrap="square" anchor="ctr" lIns="0" rIns="0" tIns="0" bIns="0">
            <a:spAutoFit/>
          </a:bodyPr>
          <a:lstStyle/>
          <a:p>
            <a:pPr algn="l">
              <a:lnSpc>
                <a:spcPct val="120000"/>
              </a:lnSpc>
            </a:pPr>
            <a:r>
              <a:rPr sz="1350" b="0" i="0">
                <a:solidFill>
                  <a:srgbClr val="F4F6F8"/>
                </a:solidFill>
                <a:latin typeface="Arial"/>
              </a:rPr>
              <a:t>authorize() published the caller's commitment in the public transcript, linking every request a member ever made. Our own tests could not see it.</a:t>
            </a:r>
          </a:p>
        </p:txBody>
      </p:sp>
      <p:sp>
        <p:nvSpPr>
          <p:cNvPr id="16" name="Rounded Rectangle 15"/>
          <p:cNvSpPr/>
          <p:nvPr/>
        </p:nvSpPr>
        <p:spPr>
          <a:xfrm>
            <a:off x="594360" y="3931920"/>
            <a:ext cx="11002975" cy="96012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22960" y="4297680"/>
            <a:ext cx="182880" cy="18288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88720" y="4206240"/>
            <a:ext cx="1371600" cy="457200"/>
          </a:xfrm>
          <a:prstGeom prst="rect">
            <a:avLst/>
          </a:prstGeom>
          <a:noFill/>
        </p:spPr>
        <p:txBody>
          <a:bodyPr wrap="square" anchor="t" lIns="0" rIns="0" tIns="0" bIns="0">
            <a:spAutoFit/>
          </a:bodyPr>
          <a:lstStyle/>
          <a:p>
            <a:pPr algn="l">
              <a:lnSpc>
                <a:spcPct val="100000"/>
              </a:lnSpc>
            </a:pPr>
            <a:r>
              <a:rPr sz="1600" b="1" i="0">
                <a:solidFill>
                  <a:srgbClr val="2DD4BF"/>
                </a:solidFill>
                <a:latin typeface="Arial"/>
              </a:rPr>
              <a:t>Fixed</a:t>
            </a:r>
          </a:p>
        </p:txBody>
      </p:sp>
      <p:sp>
        <p:nvSpPr>
          <p:cNvPr id="19" name="TextBox 18"/>
          <p:cNvSpPr txBox="1"/>
          <p:nvPr/>
        </p:nvSpPr>
        <p:spPr>
          <a:xfrm>
            <a:off x="2697480" y="4078224"/>
            <a:ext cx="8625535" cy="731520"/>
          </a:xfrm>
          <a:prstGeom prst="rect">
            <a:avLst/>
          </a:prstGeom>
          <a:noFill/>
        </p:spPr>
        <p:txBody>
          <a:bodyPr wrap="square" anchor="ctr" lIns="0" rIns="0" tIns="0" bIns="0">
            <a:spAutoFit/>
          </a:bodyPr>
          <a:lstStyle/>
          <a:p>
            <a:pPr algn="l">
              <a:lnSpc>
                <a:spcPct val="120000"/>
              </a:lnSpc>
            </a:pPr>
            <a:r>
              <a:rPr sz="1350" b="0" i="0">
                <a:solidFill>
                  <a:srgbClr val="F4F6F8"/>
                </a:solidFill>
                <a:latin typeface="Arial"/>
              </a:rPr>
              <a:t>Merkle-membership proof. Only the root is disclosed. A transcript-level regression test plus a Wave 1 control contract prove the leak is gone.</a:t>
            </a:r>
          </a:p>
        </p:txBody>
      </p:sp>
      <p:sp>
        <p:nvSpPr>
          <p:cNvPr id="20" name="Rounded Rectangle 19"/>
          <p:cNvSpPr/>
          <p:nvPr/>
        </p:nvSpPr>
        <p:spPr>
          <a:xfrm>
            <a:off x="594360" y="5029200"/>
            <a:ext cx="11002975" cy="96012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22960" y="5394960"/>
            <a:ext cx="182880" cy="182880"/>
          </a:xfrm>
          <a:prstGeom prst="ellipse">
            <a:avLst/>
          </a:prstGeom>
          <a:solidFill>
            <a:srgbClr val="2DD4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88720" y="5303520"/>
            <a:ext cx="1371600" cy="457200"/>
          </a:xfrm>
          <a:prstGeom prst="rect">
            <a:avLst/>
          </a:prstGeom>
          <a:noFill/>
        </p:spPr>
        <p:txBody>
          <a:bodyPr wrap="square" anchor="t" lIns="0" rIns="0" tIns="0" bIns="0">
            <a:spAutoFit/>
          </a:bodyPr>
          <a:lstStyle/>
          <a:p>
            <a:pPr algn="l">
              <a:lnSpc>
                <a:spcPct val="100000"/>
              </a:lnSpc>
            </a:pPr>
            <a:r>
              <a:rPr sz="1600" b="1" i="0">
                <a:solidFill>
                  <a:srgbClr val="2DD4BF"/>
                </a:solidFill>
                <a:latin typeface="Arial"/>
              </a:rPr>
              <a:t>Shipped</a:t>
            </a:r>
          </a:p>
        </p:txBody>
      </p:sp>
      <p:sp>
        <p:nvSpPr>
          <p:cNvPr id="23" name="TextBox 22"/>
          <p:cNvSpPr txBox="1"/>
          <p:nvPr/>
        </p:nvSpPr>
        <p:spPr>
          <a:xfrm>
            <a:off x="2697480" y="5175504"/>
            <a:ext cx="8625535" cy="731520"/>
          </a:xfrm>
          <a:prstGeom prst="rect">
            <a:avLst/>
          </a:prstGeom>
          <a:noFill/>
        </p:spPr>
        <p:txBody>
          <a:bodyPr wrap="square" anchor="ctr" lIns="0" rIns="0" tIns="0" bIns="0">
            <a:spAutoFit/>
          </a:bodyPr>
          <a:lstStyle/>
          <a:p>
            <a:pPr algn="l">
              <a:lnSpc>
                <a:spcPct val="120000"/>
              </a:lnSpc>
            </a:pPr>
            <a:r>
              <a:rPr sz="1350" b="0" i="0">
                <a:solidFill>
                  <a:srgbClr val="F4F6F8"/>
                </a:solidFill>
                <a:latin typeface="Arial"/>
              </a:rPr>
              <a:t>Quota slots · on-chain budget cap + topUp · sponsor-side inspector · real two-party flow on a devnet · in-browser console · pinned devnet stack.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THE FINDING</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A ledger query is not a state write, and it is public</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4 / 12</a:t>
            </a:r>
          </a:p>
        </p:txBody>
      </p:sp>
      <p:sp>
        <p:nvSpPr>
          <p:cNvPr id="8" name="TextBox 7"/>
          <p:cNvSpPr txBox="1"/>
          <p:nvPr/>
        </p:nvSpPr>
        <p:spPr>
          <a:xfrm>
            <a:off x="594360" y="1600200"/>
            <a:ext cx="11002975" cy="731520"/>
          </a:xfrm>
          <a:prstGeom prst="rect">
            <a:avLst/>
          </a:prstGeom>
          <a:noFill/>
        </p:spPr>
        <p:txBody>
          <a:bodyPr wrap="square" anchor="t" lIns="0" rIns="0" tIns="0" bIns="0">
            <a:spAutoFit/>
          </a:bodyPr>
          <a:lstStyle/>
          <a:p>
            <a:pPr algn="l">
              <a:lnSpc>
                <a:spcPct val="125000"/>
              </a:lnSpc>
            </a:pPr>
            <a:r>
              <a:rPr sz="1350" b="0" i="0">
                <a:solidFill>
                  <a:srgbClr val="8B94A3"/>
                </a:solidFill>
                <a:latin typeface="Arial"/>
              </a:rPr>
              <a:t>Wave 1 checked membership with registered.member(commitment). The compiler happily accepted it, because the commitment is a hash, not raw witness data. But a query argument goes into the public transcript.</a:t>
            </a:r>
          </a:p>
        </p:txBody>
      </p:sp>
      <p:sp>
        <p:nvSpPr>
          <p:cNvPr id="9" name="Rounded Rectangle 8"/>
          <p:cNvSpPr/>
          <p:nvPr/>
        </p:nvSpPr>
        <p:spPr>
          <a:xfrm>
            <a:off x="594360" y="2514600"/>
            <a:ext cx="5318607" cy="2651760"/>
          </a:xfrm>
          <a:prstGeom prst="roundRect">
            <a:avLst>
              <a:gd name="adj" fmla="val 5000"/>
            </a:avLst>
          </a:prstGeom>
          <a:solidFill>
            <a:srgbClr val="111722"/>
          </a:solidFill>
          <a:ln w="15875">
            <a:solidFill>
              <a:srgbClr val="E06B6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651760"/>
            <a:ext cx="4861407" cy="365760"/>
          </a:xfrm>
          <a:prstGeom prst="rect">
            <a:avLst/>
          </a:prstGeom>
          <a:noFill/>
        </p:spPr>
        <p:txBody>
          <a:bodyPr wrap="square" anchor="t" lIns="0" rIns="0" tIns="0" bIns="0">
            <a:spAutoFit/>
          </a:bodyPr>
          <a:lstStyle/>
          <a:p>
            <a:pPr algn="l">
              <a:lnSpc>
                <a:spcPct val="100000"/>
              </a:lnSpc>
            </a:pPr>
            <a:r>
              <a:rPr sz="1200" b="1" i="0">
                <a:solidFill>
                  <a:srgbClr val="E06B6B"/>
                </a:solidFill>
                <a:latin typeface="Arial"/>
              </a:rPr>
              <a:t>WAVE 1 · authorize() transcript</a:t>
            </a:r>
          </a:p>
        </p:txBody>
      </p:sp>
      <p:sp>
        <p:nvSpPr>
          <p:cNvPr id="11" name="TextBox 10"/>
          <p:cNvSpPr txBox="1"/>
          <p:nvPr/>
        </p:nvSpPr>
        <p:spPr>
          <a:xfrm>
            <a:off x="822960" y="3108960"/>
            <a:ext cx="4861407" cy="2011680"/>
          </a:xfrm>
          <a:prstGeom prst="rect">
            <a:avLst/>
          </a:prstGeom>
          <a:noFill/>
        </p:spPr>
        <p:txBody>
          <a:bodyPr wrap="square" anchor="t" lIns="0" rIns="0" tIns="0" bIns="0">
            <a:spAutoFit/>
          </a:bodyPr>
          <a:lstStyle/>
          <a:p>
            <a:pPr algn="l">
              <a:lnSpc>
                <a:spcPct val="120000"/>
              </a:lnSpc>
              <a:spcAft>
                <a:spcPts val="500"/>
              </a:spcAft>
            </a:pPr>
            <a:r>
              <a:rPr sz="1200" b="1" i="0">
                <a:solidFill>
                  <a:srgbClr val="E06B6B"/>
                </a:solidFill>
                <a:latin typeface="Consolas"/>
              </a:rPr>
              <a:t>1. 9b06f1f30ce4370f682bb2f3f2aa0622…243b64ebf2b7ec3</a:t>
            </a:r>
          </a:p>
          <a:p>
            <a:pPr algn="l">
              <a:lnSpc>
                <a:spcPct val="120000"/>
              </a:lnSpc>
              <a:spcAft>
                <a:spcPts val="500"/>
              </a:spcAft>
            </a:pPr>
            <a:r>
              <a:rPr sz="1100" b="0" i="0">
                <a:solidFill>
                  <a:srgbClr val="E06B6B"/>
                </a:solidFill>
                <a:latin typeface="Arial"/>
              </a:rPr>
              <a:t>    ← the member's commitment, in public</a:t>
            </a:r>
          </a:p>
          <a:p>
            <a:pPr algn="l">
              <a:lnSpc>
                <a:spcPct val="120000"/>
              </a:lnSpc>
              <a:spcAft>
                <a:spcPts val="500"/>
              </a:spcAft>
            </a:pPr>
            <a:r>
              <a:rPr sz="1200" b="0" i="0">
                <a:solidFill>
                  <a:srgbClr val="F4F6F8"/>
                </a:solidFill>
                <a:latin typeface="Consolas"/>
              </a:rPr>
              <a:t>2. 0707070707070707…</a:t>
            </a:r>
          </a:p>
          <a:p>
            <a:pPr algn="l">
              <a:lnSpc>
                <a:spcPct val="120000"/>
              </a:lnSpc>
              <a:spcAft>
                <a:spcPts val="500"/>
              </a:spcAft>
            </a:pPr>
            <a:r>
              <a:rPr sz="1200" b="0" i="0">
                <a:solidFill>
                  <a:srgbClr val="F4F6F8"/>
                </a:solidFill>
                <a:latin typeface="Consolas"/>
              </a:rPr>
              <a:t>3. f882a3549828bf46…</a:t>
            </a:r>
          </a:p>
          <a:p>
            <a:pPr algn="l">
              <a:lnSpc>
                <a:spcPct val="120000"/>
              </a:lnSpc>
              <a:spcAft>
                <a:spcPts val="500"/>
              </a:spcAft>
            </a:pPr>
            <a:r>
              <a:rPr sz="1300" b="1" i="0">
                <a:solidFill>
                  <a:srgbClr val="E06B6B"/>
                </a:solidFill>
                <a:latin typeface="Arial"/>
              </a:rPr>
              <a:t>Anyone can group all of one member's requests.</a:t>
            </a:r>
          </a:p>
        </p:txBody>
      </p:sp>
      <p:sp>
        <p:nvSpPr>
          <p:cNvPr id="12" name="Rounded Rectangle 11"/>
          <p:cNvSpPr/>
          <p:nvPr/>
        </p:nvSpPr>
        <p:spPr>
          <a:xfrm>
            <a:off x="6278727" y="2514600"/>
            <a:ext cx="5318607" cy="2651760"/>
          </a:xfrm>
          <a:prstGeom prst="roundRect">
            <a:avLst>
              <a:gd name="adj" fmla="val 5000"/>
            </a:avLst>
          </a:prstGeom>
          <a:solidFill>
            <a:srgbClr val="111722"/>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07327" y="2651760"/>
            <a:ext cx="4861407" cy="365760"/>
          </a:xfrm>
          <a:prstGeom prst="rect">
            <a:avLst/>
          </a:prstGeom>
          <a:noFill/>
        </p:spPr>
        <p:txBody>
          <a:bodyPr wrap="square" anchor="t" lIns="0" rIns="0" tIns="0" bIns="0">
            <a:spAutoFit/>
          </a:bodyPr>
          <a:lstStyle/>
          <a:p>
            <a:pPr algn="l">
              <a:lnSpc>
                <a:spcPct val="100000"/>
              </a:lnSpc>
            </a:pPr>
            <a:r>
              <a:rPr sz="1200" b="1" i="0">
                <a:solidFill>
                  <a:srgbClr val="2DD4BF"/>
                </a:solidFill>
                <a:latin typeface="Arial"/>
              </a:rPr>
              <a:t>WAVE 2 · authorize() transcript</a:t>
            </a:r>
          </a:p>
        </p:txBody>
      </p:sp>
      <p:sp>
        <p:nvSpPr>
          <p:cNvPr id="14" name="TextBox 13"/>
          <p:cNvSpPr txBox="1"/>
          <p:nvPr/>
        </p:nvSpPr>
        <p:spPr>
          <a:xfrm>
            <a:off x="6507327" y="3108960"/>
            <a:ext cx="4861407" cy="2011680"/>
          </a:xfrm>
          <a:prstGeom prst="rect">
            <a:avLst/>
          </a:prstGeom>
          <a:noFill/>
        </p:spPr>
        <p:txBody>
          <a:bodyPr wrap="square" anchor="t" lIns="0" rIns="0" tIns="0" bIns="0">
            <a:spAutoFit/>
          </a:bodyPr>
          <a:lstStyle/>
          <a:p>
            <a:pPr algn="l">
              <a:lnSpc>
                <a:spcPct val="120000"/>
              </a:lnSpc>
              <a:spcAft>
                <a:spcPts val="500"/>
              </a:spcAft>
            </a:pPr>
            <a:r>
              <a:rPr sz="1200" b="0" i="0">
                <a:solidFill>
                  <a:srgbClr val="F4F6F8"/>
                </a:solidFill>
                <a:latin typeface="Consolas"/>
              </a:rPr>
              <a:t>1. 3fc0b14abfa80c56800411444747e9c5…</a:t>
            </a:r>
          </a:p>
          <a:p>
            <a:pPr algn="l">
              <a:lnSpc>
                <a:spcPct val="120000"/>
              </a:lnSpc>
              <a:spcAft>
                <a:spcPts val="500"/>
              </a:spcAft>
            </a:pPr>
            <a:r>
              <a:rPr sz="1100" b="0" i="0">
                <a:solidFill>
                  <a:srgbClr val="2DD4BF"/>
                </a:solidFill>
                <a:latin typeface="Arial"/>
              </a:rPr>
              <a:t>    ← a Merkle root (shared by all members)</a:t>
            </a:r>
          </a:p>
          <a:p>
            <a:pPr algn="l">
              <a:lnSpc>
                <a:spcPct val="120000"/>
              </a:lnSpc>
              <a:spcAft>
                <a:spcPts val="500"/>
              </a:spcAft>
            </a:pPr>
            <a:r>
              <a:rPr sz="1200" b="0" i="0">
                <a:solidFill>
                  <a:srgbClr val="F4F6F8"/>
                </a:solidFill>
                <a:latin typeface="Consolas"/>
              </a:rPr>
              <a:t>2. 0707070707070707…</a:t>
            </a:r>
          </a:p>
          <a:p>
            <a:pPr algn="l">
              <a:lnSpc>
                <a:spcPct val="120000"/>
              </a:lnSpc>
              <a:spcAft>
                <a:spcPts val="500"/>
              </a:spcAft>
            </a:pPr>
            <a:r>
              <a:rPr sz="1200" b="0" i="0">
                <a:solidFill>
                  <a:srgbClr val="F4F6F8"/>
                </a:solidFill>
                <a:latin typeface="Consolas"/>
              </a:rPr>
              <a:t>3. dedcc12bf176573055ec369a53db82a5…</a:t>
            </a:r>
          </a:p>
          <a:p>
            <a:pPr algn="l">
              <a:lnSpc>
                <a:spcPct val="120000"/>
              </a:lnSpc>
              <a:spcAft>
                <a:spcPts val="500"/>
              </a:spcAft>
            </a:pPr>
            <a:r>
              <a:rPr sz="1100" b="0" i="0">
                <a:solidFill>
                  <a:srgbClr val="2DD4BF"/>
                </a:solidFill>
                <a:latin typeface="Arial"/>
              </a:rPr>
              <a:t>    ← a fresh nullifier, unlinkable</a:t>
            </a:r>
          </a:p>
          <a:p>
            <a:pPr algn="l">
              <a:lnSpc>
                <a:spcPct val="120000"/>
              </a:lnSpc>
              <a:spcAft>
                <a:spcPts val="500"/>
              </a:spcAft>
            </a:pPr>
            <a:r>
              <a:rPr sz="1300" b="1" i="0">
                <a:solidFill>
                  <a:srgbClr val="2DD4BF"/>
                </a:solidFill>
                <a:latin typeface="Arial"/>
              </a:rPr>
              <a:t>The member is one of N, indistinguishable.</a:t>
            </a:r>
          </a:p>
        </p:txBody>
      </p:sp>
      <p:sp>
        <p:nvSpPr>
          <p:cNvPr id="15" name="TextBox 14"/>
          <p:cNvSpPr txBox="1"/>
          <p:nvPr/>
        </p:nvSpPr>
        <p:spPr>
          <a:xfrm>
            <a:off x="594360" y="5440680"/>
            <a:ext cx="11002975" cy="822960"/>
          </a:xfrm>
          <a:prstGeom prst="rect">
            <a:avLst/>
          </a:prstGeom>
          <a:noFill/>
        </p:spPr>
        <p:txBody>
          <a:bodyPr wrap="square" anchor="t" lIns="0" rIns="0" tIns="0" bIns="0">
            <a:spAutoFit/>
          </a:bodyPr>
          <a:lstStyle/>
          <a:p>
            <a:pPr algn="l">
              <a:lnSpc>
                <a:spcPct val="125000"/>
              </a:lnSpc>
            </a:pPr>
            <a:r>
              <a:rPr sz="1350" b="0" i="0">
                <a:solidFill>
                  <a:srgbClr val="F4F6F8"/>
                </a:solidFill>
                <a:latin typeface="Arial"/>
              </a:rPr>
              <a:t>How we know the test can fail: the same check, run on the preserved Wave 1 contract, finds the commitment. Run on Wave 2, it does not. Both are in the suite.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THE FIX</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Prove membership without saying where</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5 / 12</a:t>
            </a:r>
          </a:p>
        </p:txBody>
      </p:sp>
      <p:sp>
        <p:nvSpPr>
          <p:cNvPr id="8" name="Rounded Rectangle 7"/>
          <p:cNvSpPr/>
          <p:nvPr/>
        </p:nvSpPr>
        <p:spPr>
          <a:xfrm>
            <a:off x="914400" y="1828800"/>
            <a:ext cx="1554480" cy="548640"/>
          </a:xfrm>
          <a:prstGeom prst="roundRect">
            <a:avLst>
              <a:gd name="adj" fmla="val 20000"/>
            </a:avLst>
          </a:prstGeom>
          <a:solidFill>
            <a:srgbClr val="161D2A"/>
          </a:solidFill>
          <a:ln w="19050">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200" b="1" i="0">
                <a:solidFill>
                  <a:srgbClr val="2DD4BF"/>
                </a:solidFill>
                <a:latin typeface="Arial"/>
              </a:rPr>
              <a:t>root  (public)</a:t>
            </a:r>
          </a:p>
        </p:txBody>
      </p:sp>
      <p:sp>
        <p:nvSpPr>
          <p:cNvPr id="9" name="Rounded Rectangle 8"/>
          <p:cNvSpPr/>
          <p:nvPr/>
        </p:nvSpPr>
        <p:spPr>
          <a:xfrm>
            <a:off x="182880" y="2926080"/>
            <a:ext cx="1371600" cy="502920"/>
          </a:xfrm>
          <a:prstGeom prst="roundRect">
            <a:avLst>
              <a:gd name="adj" fmla="val 20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100" b="0" i="0">
                <a:solidFill>
                  <a:srgbClr val="8B94A3"/>
                </a:solidFill>
                <a:latin typeface="Arial"/>
              </a:rPr>
              <a:t>hash</a:t>
            </a:r>
          </a:p>
        </p:txBody>
      </p:sp>
      <p:cxnSp>
        <p:nvCxnSpPr>
          <p:cNvPr id="10" name="Connector 9"/>
          <p:cNvCxnSpPr/>
          <p:nvPr/>
        </p:nvCxnSpPr>
        <p:spPr>
          <a:xfrm flipH="1">
            <a:off x="868680" y="2377440"/>
            <a:ext cx="822960" cy="548640"/>
          </a:xfrm>
          <a:prstGeom prst="line">
            <a:avLst/>
          </a:prstGeom>
          <a:ln w="15875">
            <a:solidFill>
              <a:srgbClr val="27303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468880" y="2926080"/>
            <a:ext cx="1371600" cy="502920"/>
          </a:xfrm>
          <a:prstGeom prst="roundRect">
            <a:avLst>
              <a:gd name="adj" fmla="val 20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100" b="0" i="0">
                <a:solidFill>
                  <a:srgbClr val="8B94A3"/>
                </a:solidFill>
                <a:latin typeface="Arial"/>
              </a:rPr>
              <a:t>hash</a:t>
            </a:r>
          </a:p>
        </p:txBody>
      </p:sp>
      <p:cxnSp>
        <p:nvCxnSpPr>
          <p:cNvPr id="12" name="Connector 11"/>
          <p:cNvCxnSpPr/>
          <p:nvPr/>
        </p:nvCxnSpPr>
        <p:spPr>
          <a:xfrm>
            <a:off x="1691640" y="2377440"/>
            <a:ext cx="1463040" cy="548640"/>
          </a:xfrm>
          <a:prstGeom prst="line">
            <a:avLst/>
          </a:prstGeom>
          <a:ln w="15875">
            <a:solidFill>
              <a:srgbClr val="27303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5720" y="4023360"/>
            <a:ext cx="1005840" cy="502920"/>
          </a:xfrm>
          <a:prstGeom prst="roundRect">
            <a:avLst>
              <a:gd name="adj" fmla="val 20000"/>
            </a:avLst>
          </a:prstGeom>
          <a:solidFill>
            <a:srgbClr val="111722"/>
          </a:solidFill>
          <a:ln w="12700">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100" b="0" i="0">
                <a:solidFill>
                  <a:srgbClr val="8B94A3"/>
                </a:solidFill>
                <a:latin typeface="Arial"/>
              </a:rPr>
              <a:t>member</a:t>
            </a:r>
          </a:p>
        </p:txBody>
      </p:sp>
      <p:cxnSp>
        <p:nvCxnSpPr>
          <p:cNvPr id="14" name="Connector 13"/>
          <p:cNvCxnSpPr/>
          <p:nvPr/>
        </p:nvCxnSpPr>
        <p:spPr>
          <a:xfrm flipH="1">
            <a:off x="548640" y="3429000"/>
            <a:ext cx="320040" cy="594360"/>
          </a:xfrm>
          <a:prstGeom prst="line">
            <a:avLst/>
          </a:prstGeom>
          <a:ln w="15875">
            <a:solidFill>
              <a:srgbClr val="27303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188720" y="4023360"/>
            <a:ext cx="1005840" cy="502920"/>
          </a:xfrm>
          <a:prstGeom prst="roundRect">
            <a:avLst>
              <a:gd name="adj" fmla="val 20000"/>
            </a:avLst>
          </a:prstGeom>
          <a:solidFill>
            <a:srgbClr val="161D2A"/>
          </a:solidFill>
          <a:ln w="19050">
            <a:solidFill>
              <a:srgbClr val="9B7BF6"/>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100" b="1" i="0">
                <a:solidFill>
                  <a:srgbClr val="9B7BF6"/>
                </a:solidFill>
                <a:latin typeface="Arial"/>
              </a:rPr>
              <a:t>you</a:t>
            </a:r>
          </a:p>
        </p:txBody>
      </p:sp>
      <p:cxnSp>
        <p:nvCxnSpPr>
          <p:cNvPr id="16" name="Connector 15"/>
          <p:cNvCxnSpPr/>
          <p:nvPr/>
        </p:nvCxnSpPr>
        <p:spPr>
          <a:xfrm>
            <a:off x="868680" y="3429000"/>
            <a:ext cx="822960" cy="594360"/>
          </a:xfrm>
          <a:prstGeom prst="line">
            <a:avLst/>
          </a:prstGeom>
          <a:ln w="15875">
            <a:solidFill>
              <a:srgbClr val="27303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331720" y="4023360"/>
            <a:ext cx="1005840" cy="502920"/>
          </a:xfrm>
          <a:prstGeom prst="roundRect">
            <a:avLst>
              <a:gd name="adj" fmla="val 20000"/>
            </a:avLst>
          </a:prstGeom>
          <a:solidFill>
            <a:srgbClr val="111722"/>
          </a:solidFill>
          <a:ln w="12700">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100" b="0" i="0">
                <a:solidFill>
                  <a:srgbClr val="8B94A3"/>
                </a:solidFill>
                <a:latin typeface="Arial"/>
              </a:rPr>
              <a:t>member</a:t>
            </a:r>
          </a:p>
        </p:txBody>
      </p:sp>
      <p:cxnSp>
        <p:nvCxnSpPr>
          <p:cNvPr id="18" name="Connector 17"/>
          <p:cNvCxnSpPr/>
          <p:nvPr/>
        </p:nvCxnSpPr>
        <p:spPr>
          <a:xfrm flipH="1">
            <a:off x="2834640" y="3429000"/>
            <a:ext cx="320040" cy="594360"/>
          </a:xfrm>
          <a:prstGeom prst="line">
            <a:avLst/>
          </a:prstGeom>
          <a:ln w="15875">
            <a:solidFill>
              <a:srgbClr val="27303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474720" y="4023360"/>
            <a:ext cx="1005840" cy="502920"/>
          </a:xfrm>
          <a:prstGeom prst="roundRect">
            <a:avLst>
              <a:gd name="adj" fmla="val 20000"/>
            </a:avLst>
          </a:prstGeom>
          <a:solidFill>
            <a:srgbClr val="111722"/>
          </a:solidFill>
          <a:ln w="12700">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lnSpc>
                <a:spcPct val="100000"/>
              </a:lnSpc>
            </a:pPr>
            <a:r>
              <a:rPr sz="1100" b="0" i="0">
                <a:solidFill>
                  <a:srgbClr val="8B94A3"/>
                </a:solidFill>
                <a:latin typeface="Arial"/>
              </a:rPr>
              <a:t>member</a:t>
            </a:r>
          </a:p>
        </p:txBody>
      </p:sp>
      <p:cxnSp>
        <p:nvCxnSpPr>
          <p:cNvPr id="20" name="Connector 19"/>
          <p:cNvCxnSpPr/>
          <p:nvPr/>
        </p:nvCxnSpPr>
        <p:spPr>
          <a:xfrm>
            <a:off x="3154680" y="3429000"/>
            <a:ext cx="822960" cy="594360"/>
          </a:xfrm>
          <a:prstGeom prst="line">
            <a:avLst/>
          </a:prstGeom>
          <a:ln w="15875">
            <a:solidFill>
              <a:srgbClr val="27303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82880" y="4709160"/>
            <a:ext cx="4572000" cy="1005840"/>
          </a:xfrm>
          <a:prstGeom prst="rect">
            <a:avLst/>
          </a:prstGeom>
          <a:noFill/>
        </p:spPr>
        <p:txBody>
          <a:bodyPr wrap="square" anchor="t" lIns="0" rIns="0" tIns="0" bIns="0">
            <a:spAutoFit/>
          </a:bodyPr>
          <a:lstStyle/>
          <a:p>
            <a:pPr algn="l">
              <a:lnSpc>
                <a:spcPct val="125000"/>
              </a:lnSpc>
            </a:pPr>
            <a:r>
              <a:rPr sz="1200" b="0" i="0">
                <a:solidFill>
                  <a:srgbClr val="8B94A3"/>
                </a:solidFill>
                <a:latin typeface="Arial"/>
              </a:rPr>
              <a:t>Your path to the root is private witness data. The circuit hashes it up and discloses only the root.</a:t>
            </a:r>
          </a:p>
        </p:txBody>
      </p:sp>
      <p:sp>
        <p:nvSpPr>
          <p:cNvPr id="22" name="Rounded Rectangle 21"/>
          <p:cNvSpPr/>
          <p:nvPr/>
        </p:nvSpPr>
        <p:spPr>
          <a:xfrm>
            <a:off x="5852160" y="1737360"/>
            <a:ext cx="5742432" cy="100584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080760" y="1847088"/>
            <a:ext cx="5303520" cy="320040"/>
          </a:xfrm>
          <a:prstGeom prst="rect">
            <a:avLst/>
          </a:prstGeom>
          <a:noFill/>
        </p:spPr>
        <p:txBody>
          <a:bodyPr wrap="square" anchor="t" lIns="0" rIns="0" tIns="0" bIns="0">
            <a:spAutoFit/>
          </a:bodyPr>
          <a:lstStyle/>
          <a:p>
            <a:pPr algn="l">
              <a:lnSpc>
                <a:spcPct val="100000"/>
              </a:lnSpc>
            </a:pPr>
            <a:r>
              <a:rPr sz="1350" b="1" i="0">
                <a:solidFill>
                  <a:srgbClr val="2DD4BF"/>
                </a:solidFill>
                <a:latin typeface="Arial"/>
              </a:rPr>
              <a:t>register</a:t>
            </a:r>
          </a:p>
        </p:txBody>
      </p:sp>
      <p:sp>
        <p:nvSpPr>
          <p:cNvPr id="24" name="TextBox 23"/>
          <p:cNvSpPr txBox="1"/>
          <p:nvPr/>
        </p:nvSpPr>
        <p:spPr>
          <a:xfrm>
            <a:off x="6080760" y="2176272"/>
            <a:ext cx="5303520" cy="548640"/>
          </a:xfrm>
          <a:prstGeom prst="rect">
            <a:avLst/>
          </a:prstGeom>
          <a:noFill/>
        </p:spPr>
        <p:txBody>
          <a:bodyPr wrap="square" anchor="t" lIns="0" rIns="0" tIns="0" bIns="0">
            <a:spAutoFit/>
          </a:bodyPr>
          <a:lstStyle/>
          <a:p>
            <a:pPr algn="l">
              <a:lnSpc>
                <a:spcPct val="120000"/>
              </a:lnSpc>
            </a:pPr>
            <a:r>
              <a:rPr sz="1150" b="0" i="0">
                <a:solidFill>
                  <a:srgbClr val="8B94A3"/>
                </a:solidFill>
                <a:latin typeface="Arial"/>
              </a:rPr>
              <a:t>Disclose your commitment once. Inserted into a Set (duplicate check) and a Merkle tree (membership).</a:t>
            </a:r>
          </a:p>
        </p:txBody>
      </p:sp>
      <p:sp>
        <p:nvSpPr>
          <p:cNvPr id="25" name="Rounded Rectangle 24"/>
          <p:cNvSpPr/>
          <p:nvPr/>
        </p:nvSpPr>
        <p:spPr>
          <a:xfrm>
            <a:off x="5852160" y="2852928"/>
            <a:ext cx="5742432" cy="100584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080760" y="2962656"/>
            <a:ext cx="5303520" cy="320040"/>
          </a:xfrm>
          <a:prstGeom prst="rect">
            <a:avLst/>
          </a:prstGeom>
          <a:noFill/>
        </p:spPr>
        <p:txBody>
          <a:bodyPr wrap="square" anchor="t" lIns="0" rIns="0" tIns="0" bIns="0">
            <a:spAutoFit/>
          </a:bodyPr>
          <a:lstStyle/>
          <a:p>
            <a:pPr algn="l">
              <a:lnSpc>
                <a:spcPct val="100000"/>
              </a:lnSpc>
            </a:pPr>
            <a:r>
              <a:rPr sz="1350" b="1" i="0">
                <a:solidFill>
                  <a:srgbClr val="2DD4BF"/>
                </a:solidFill>
                <a:latin typeface="Arial"/>
              </a:rPr>
              <a:t>authorize</a:t>
            </a:r>
          </a:p>
        </p:txBody>
      </p:sp>
      <p:sp>
        <p:nvSpPr>
          <p:cNvPr id="27" name="TextBox 26"/>
          <p:cNvSpPr txBox="1"/>
          <p:nvPr/>
        </p:nvSpPr>
        <p:spPr>
          <a:xfrm>
            <a:off x="6080760" y="3291840"/>
            <a:ext cx="5303520" cy="548640"/>
          </a:xfrm>
          <a:prstGeom prst="rect">
            <a:avLst/>
          </a:prstGeom>
          <a:noFill/>
        </p:spPr>
        <p:txBody>
          <a:bodyPr wrap="square" anchor="t" lIns="0" rIns="0" tIns="0" bIns="0">
            <a:spAutoFit/>
          </a:bodyPr>
          <a:lstStyle/>
          <a:p>
            <a:pPr algn="l">
              <a:lnSpc>
                <a:spcPct val="120000"/>
              </a:lnSpc>
            </a:pPr>
            <a:r>
              <a:rPr sz="1150" b="0" i="0">
                <a:solidFill>
                  <a:srgbClr val="8B94A3"/>
                </a:solidFill>
                <a:latin typeface="Arial"/>
              </a:rPr>
              <a:t>Prove path → root, disclose only the root. Spend nullifier H(pool, epoch, slot, secret).</a:t>
            </a:r>
          </a:p>
        </p:txBody>
      </p:sp>
      <p:sp>
        <p:nvSpPr>
          <p:cNvPr id="28" name="Rounded Rectangle 27"/>
          <p:cNvSpPr/>
          <p:nvPr/>
        </p:nvSpPr>
        <p:spPr>
          <a:xfrm>
            <a:off x="5852160" y="3968496"/>
            <a:ext cx="5742432" cy="100584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080760" y="4078224"/>
            <a:ext cx="5303520" cy="320040"/>
          </a:xfrm>
          <a:prstGeom prst="rect">
            <a:avLst/>
          </a:prstGeom>
          <a:noFill/>
        </p:spPr>
        <p:txBody>
          <a:bodyPr wrap="square" anchor="t" lIns="0" rIns="0" tIns="0" bIns="0">
            <a:spAutoFit/>
          </a:bodyPr>
          <a:lstStyle/>
          <a:p>
            <a:pPr algn="l">
              <a:lnSpc>
                <a:spcPct val="100000"/>
              </a:lnSpc>
            </a:pPr>
            <a:r>
              <a:rPr sz="1350" b="1" i="0">
                <a:solidFill>
                  <a:srgbClr val="2DD4BF"/>
                </a:solidFill>
                <a:latin typeface="Arial"/>
              </a:rPr>
              <a:t>Historic roots</a:t>
            </a:r>
          </a:p>
        </p:txBody>
      </p:sp>
      <p:sp>
        <p:nvSpPr>
          <p:cNvPr id="30" name="TextBox 29"/>
          <p:cNvSpPr txBox="1"/>
          <p:nvPr/>
        </p:nvSpPr>
        <p:spPr>
          <a:xfrm>
            <a:off x="6080760" y="4407408"/>
            <a:ext cx="5303520" cy="548640"/>
          </a:xfrm>
          <a:prstGeom prst="rect">
            <a:avLst/>
          </a:prstGeom>
          <a:noFill/>
        </p:spPr>
        <p:txBody>
          <a:bodyPr wrap="square" anchor="t" lIns="0" rIns="0" tIns="0" bIns="0">
            <a:spAutoFit/>
          </a:bodyPr>
          <a:lstStyle/>
          <a:p>
            <a:pPr algn="l">
              <a:lnSpc>
                <a:spcPct val="120000"/>
              </a:lnSpc>
            </a:pPr>
            <a:r>
              <a:rPr sz="1150" b="0" i="0">
                <a:solidFill>
                  <a:srgbClr val="8B94A3"/>
                </a:solidFill>
                <a:latin typeface="Arial"/>
              </a:rPr>
              <a:t>Older roots stay valid, so registering later never locks an earlier member out.</a:t>
            </a:r>
          </a:p>
        </p:txBody>
      </p:sp>
      <p:sp>
        <p:nvSpPr>
          <p:cNvPr id="31" name="Rounded Rectangle 30"/>
          <p:cNvSpPr/>
          <p:nvPr/>
        </p:nvSpPr>
        <p:spPr>
          <a:xfrm>
            <a:off x="5852160" y="5084064"/>
            <a:ext cx="5742432" cy="100584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80760" y="5193792"/>
            <a:ext cx="5303520" cy="320040"/>
          </a:xfrm>
          <a:prstGeom prst="rect">
            <a:avLst/>
          </a:prstGeom>
          <a:noFill/>
        </p:spPr>
        <p:txBody>
          <a:bodyPr wrap="square" anchor="t" lIns="0" rIns="0" tIns="0" bIns="0">
            <a:spAutoFit/>
          </a:bodyPr>
          <a:lstStyle/>
          <a:p>
            <a:pPr algn="l">
              <a:lnSpc>
                <a:spcPct val="100000"/>
              </a:lnSpc>
            </a:pPr>
            <a:r>
              <a:rPr sz="1350" b="1" i="0">
                <a:solidFill>
                  <a:srgbClr val="F5A623"/>
                </a:solidFill>
                <a:latin typeface="Arial"/>
              </a:rPr>
              <a:t>Honest limit</a:t>
            </a:r>
          </a:p>
        </p:txBody>
      </p:sp>
      <p:sp>
        <p:nvSpPr>
          <p:cNvPr id="33" name="TextBox 32"/>
          <p:cNvSpPr txBox="1"/>
          <p:nvPr/>
        </p:nvSpPr>
        <p:spPr>
          <a:xfrm>
            <a:off x="6080760" y="5522976"/>
            <a:ext cx="5303520" cy="548640"/>
          </a:xfrm>
          <a:prstGeom prst="rect">
            <a:avLst/>
          </a:prstGeom>
          <a:noFill/>
        </p:spPr>
        <p:txBody>
          <a:bodyPr wrap="square" anchor="t" lIns="0" rIns="0" tIns="0" bIns="0">
            <a:spAutoFit/>
          </a:bodyPr>
          <a:lstStyle/>
          <a:p>
            <a:pPr algn="l">
              <a:lnSpc>
                <a:spcPct val="120000"/>
              </a:lnSpc>
            </a:pPr>
            <a:r>
              <a:rPr sz="1150" b="0" i="0">
                <a:solidFill>
                  <a:srgbClr val="8B94A3"/>
                </a:solidFill>
                <a:latin typeface="Arial"/>
              </a:rPr>
              <a:t>The anonymity set is the pool's size. A one-member pool hides nothing.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CONTRACT</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Four circuits, three new guarantees</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6 / 12</a:t>
            </a:r>
          </a:p>
        </p:txBody>
      </p:sp>
      <p:sp>
        <p:nvSpPr>
          <p:cNvPr id="8" name="Rounded Rectangle 7"/>
          <p:cNvSpPr/>
          <p:nvPr/>
        </p:nvSpPr>
        <p:spPr>
          <a:xfrm>
            <a:off x="594360" y="1737360"/>
            <a:ext cx="3423818" cy="256032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01952"/>
            <a:ext cx="3021482"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Quota slots</a:t>
            </a:r>
          </a:p>
        </p:txBody>
      </p:sp>
      <p:sp>
        <p:nvSpPr>
          <p:cNvPr id="10" name="TextBox 9"/>
          <p:cNvSpPr txBox="1"/>
          <p:nvPr/>
        </p:nvSpPr>
        <p:spPr>
          <a:xfrm>
            <a:off x="795528" y="2359152"/>
            <a:ext cx="3021482" cy="1828800"/>
          </a:xfrm>
          <a:prstGeom prst="rect">
            <a:avLst/>
          </a:prstGeom>
          <a:noFill/>
        </p:spPr>
        <p:txBody>
          <a:bodyPr wrap="square" anchor="t" lIns="0" rIns="0" tIns="0" bIns="0">
            <a:spAutoFit/>
          </a:bodyPr>
          <a:lstStyle/>
          <a:p>
            <a:pPr algn="l">
              <a:lnSpc>
                <a:spcPct val="125000"/>
              </a:lnSpc>
            </a:pPr>
            <a:r>
              <a:rPr sz="1250" b="0" i="0">
                <a:solidFill>
                  <a:srgbClr val="8B94A3"/>
                </a:solidFill>
                <a:latin typeface="Arial"/>
              </a:rPr>
              <a:t>authorize(epoch, slot). A pool grants N authorizations per member per epoch. Each slot is its own nullifier, single-use, refreshed every epoch.</a:t>
            </a:r>
          </a:p>
        </p:txBody>
      </p:sp>
      <p:sp>
        <p:nvSpPr>
          <p:cNvPr id="11" name="Rounded Rectangle 10"/>
          <p:cNvSpPr/>
          <p:nvPr/>
        </p:nvSpPr>
        <p:spPr>
          <a:xfrm>
            <a:off x="4383938" y="1737360"/>
            <a:ext cx="3423818" cy="256032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5106" y="1901952"/>
            <a:ext cx="3021482"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On-chain budget</a:t>
            </a:r>
          </a:p>
        </p:txBody>
      </p:sp>
      <p:sp>
        <p:nvSpPr>
          <p:cNvPr id="13" name="TextBox 12"/>
          <p:cNvSpPr txBox="1"/>
          <p:nvPr/>
        </p:nvSpPr>
        <p:spPr>
          <a:xfrm>
            <a:off x="4585106" y="2359152"/>
            <a:ext cx="3021482" cy="1828800"/>
          </a:xfrm>
          <a:prstGeom prst="rect">
            <a:avLst/>
          </a:prstGeom>
          <a:noFill/>
        </p:spPr>
        <p:txBody>
          <a:bodyPr wrap="square" anchor="t" lIns="0" rIns="0" tIns="0" bIns="0">
            <a:spAutoFit/>
          </a:bodyPr>
          <a:lstStyle/>
          <a:p>
            <a:pPr algn="l">
              <a:lnSpc>
                <a:spcPct val="125000"/>
              </a:lnSpc>
            </a:pPr>
            <a:r>
              <a:rPr sz="1250" b="0" i="0">
                <a:solidFill>
                  <a:srgbClr val="8B94A3"/>
                </a:solidFill>
                <a:latin typeface="Arial"/>
              </a:rPr>
              <a:t>The contract cannot read DUST, so the sponsor commits to a ceiling it can enforce: maxAuthorizations + a counter. A pool-wide stop that holds even if every member cheats.</a:t>
            </a:r>
          </a:p>
        </p:txBody>
      </p:sp>
      <p:sp>
        <p:nvSpPr>
          <p:cNvPr id="14" name="Rounded Rectangle 13"/>
          <p:cNvSpPr/>
          <p:nvPr/>
        </p:nvSpPr>
        <p:spPr>
          <a:xfrm>
            <a:off x="8173516" y="1737360"/>
            <a:ext cx="3423818" cy="256032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74684" y="1901952"/>
            <a:ext cx="3021482"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topUp (owner)</a:t>
            </a:r>
          </a:p>
        </p:txBody>
      </p:sp>
      <p:sp>
        <p:nvSpPr>
          <p:cNvPr id="16" name="TextBox 15"/>
          <p:cNvSpPr txBox="1"/>
          <p:nvPr/>
        </p:nvSpPr>
        <p:spPr>
          <a:xfrm>
            <a:off x="8374684" y="2359152"/>
            <a:ext cx="3021482" cy="1828800"/>
          </a:xfrm>
          <a:prstGeom prst="rect">
            <a:avLst/>
          </a:prstGeom>
          <a:noFill/>
        </p:spPr>
        <p:txBody>
          <a:bodyPr wrap="square" anchor="t" lIns="0" rIns="0" tIns="0" bIns="0">
            <a:spAutoFit/>
          </a:bodyPr>
          <a:lstStyle/>
          <a:p>
            <a:pPr algn="l">
              <a:lnSpc>
                <a:spcPct val="125000"/>
              </a:lnSpc>
            </a:pPr>
            <a:r>
              <a:rPr sz="1250" b="0" i="0">
                <a:solidFill>
                  <a:srgbClr val="8B94A3"/>
                </a:solidFill>
                <a:latin typeface="Arial"/>
              </a:rPr>
              <a:t>The budget can only go up, never down. Members are never promised capacity that is then taken back. Closing is deactivate().</a:t>
            </a:r>
          </a:p>
        </p:txBody>
      </p:sp>
      <p:sp>
        <p:nvSpPr>
          <p:cNvPr id="17" name="Rounded Rectangle 16"/>
          <p:cNvSpPr/>
          <p:nvPr/>
        </p:nvSpPr>
        <p:spPr>
          <a:xfrm>
            <a:off x="594360" y="4526280"/>
            <a:ext cx="11002975" cy="164592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4663440"/>
            <a:ext cx="10454335" cy="365760"/>
          </a:xfrm>
          <a:prstGeom prst="rect">
            <a:avLst/>
          </a:prstGeom>
          <a:noFill/>
        </p:spPr>
        <p:txBody>
          <a:bodyPr wrap="square" anchor="t" lIns="0" rIns="0" tIns="0" bIns="0">
            <a:spAutoFit/>
          </a:bodyPr>
          <a:lstStyle/>
          <a:p>
            <a:pPr algn="l">
              <a:lnSpc>
                <a:spcPct val="100000"/>
              </a:lnSpc>
            </a:pPr>
            <a:r>
              <a:rPr sz="1100" b="1" i="0">
                <a:solidFill>
                  <a:srgbClr val="9B7BF6"/>
                </a:solidFill>
                <a:latin typeface="Arial"/>
              </a:rPr>
              <a:t>CIRCUITS</a:t>
            </a:r>
          </a:p>
        </p:txBody>
      </p:sp>
      <p:sp>
        <p:nvSpPr>
          <p:cNvPr id="19" name="TextBox 18"/>
          <p:cNvSpPr txBox="1"/>
          <p:nvPr/>
        </p:nvSpPr>
        <p:spPr>
          <a:xfrm>
            <a:off x="868680" y="5029200"/>
            <a:ext cx="10454335" cy="1097280"/>
          </a:xfrm>
          <a:prstGeom prst="rect">
            <a:avLst/>
          </a:prstGeom>
          <a:noFill/>
        </p:spPr>
        <p:txBody>
          <a:bodyPr wrap="square" anchor="t" lIns="0" rIns="0" tIns="0" bIns="0">
            <a:spAutoFit/>
          </a:bodyPr>
          <a:lstStyle/>
          <a:p>
            <a:pPr algn="l">
              <a:lnSpc>
                <a:spcPct val="115000"/>
              </a:lnSpc>
              <a:spcAft>
                <a:spcPts val="400"/>
              </a:spcAft>
            </a:pPr>
            <a:r>
              <a:rPr sz="1200" b="0" i="0">
                <a:solidFill>
                  <a:srgbClr val="F4F6F8"/>
                </a:solidFill>
                <a:latin typeface="Consolas"/>
              </a:rPr>
              <a:t>register(nonce)       PoW-gated, one-time commitment insert (Set + Merkle tree)</a:t>
            </a:r>
          </a:p>
          <a:p>
            <a:pPr algn="l">
              <a:lnSpc>
                <a:spcPct val="115000"/>
              </a:lnSpc>
              <a:spcAft>
                <a:spcPts val="400"/>
              </a:spcAft>
            </a:pPr>
            <a:r>
              <a:rPr sz="1200" b="0" i="0">
                <a:solidFill>
                  <a:srgbClr val="F4F6F8"/>
                </a:solidFill>
                <a:latin typeface="Consolas"/>
              </a:rPr>
              <a:t>authorize(epoch, slot)   Merkle membership + epoch window + quota + budget + nullifier</a:t>
            </a:r>
          </a:p>
          <a:p>
            <a:pPr algn="l">
              <a:lnSpc>
                <a:spcPct val="115000"/>
              </a:lnSpc>
              <a:spcAft>
                <a:spcPts val="400"/>
              </a:spcAft>
            </a:pPr>
            <a:r>
              <a:rPr sz="1200" b="0" i="0">
                <a:solidFill>
                  <a:srgbClr val="F4F6F8"/>
                </a:solidFill>
                <a:latin typeface="Consolas"/>
              </a:rPr>
              <a:t>topUp(newMax)         owner-only, increase-only        deactivate()   owner-only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REAL TWO-PARTY FLOW</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An unfunded wallet, paid for by someone else</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7 / 12</a:t>
            </a:r>
          </a:p>
        </p:txBody>
      </p:sp>
      <p:sp>
        <p:nvSpPr>
          <p:cNvPr id="8" name="Rounded Rectangle 7"/>
          <p:cNvSpPr/>
          <p:nvPr/>
        </p:nvSpPr>
        <p:spPr>
          <a:xfrm>
            <a:off x="700887" y="1783080"/>
            <a:ext cx="1828800" cy="1143000"/>
          </a:xfrm>
          <a:prstGeom prst="roundRect">
            <a:avLst>
              <a:gd name="adj" fmla="val 12000"/>
            </a:avLst>
          </a:prstGeom>
          <a:solidFill>
            <a:srgbClr val="161D2A"/>
          </a:solidFill>
          <a:ln w="15875">
            <a:solidFill>
              <a:srgbClr val="8B94A3"/>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tIns="0" bIns="0"/>
          <a:lstStyle/>
          <a:p>
            <a:pPr algn="ctr">
              <a:lnSpc>
                <a:spcPct val="105000"/>
              </a:lnSpc>
              <a:spcAft>
                <a:spcPts val="200"/>
              </a:spcAft>
            </a:pPr>
            <a:r>
              <a:rPr sz="1500" b="1" i="0">
                <a:solidFill>
                  <a:srgbClr val="F4F6F8"/>
                </a:solidFill>
                <a:latin typeface="Arial"/>
              </a:rPr>
              <a:t>Sponsee</a:t>
            </a:r>
          </a:p>
          <a:p>
            <a:pPr algn="ctr">
              <a:lnSpc>
                <a:spcPct val="105000"/>
              </a:lnSpc>
              <a:spcAft>
                <a:spcPts val="0"/>
              </a:spcAft>
            </a:pPr>
            <a:r>
              <a:rPr sz="1050" b="0" i="0">
                <a:solidFill>
                  <a:srgbClr val="8B94A3"/>
                </a:solidFill>
                <a:latin typeface="Arial"/>
              </a:rPr>
              <a:t>no NIGHT, no DUST, no wallet</a:t>
            </a:r>
          </a:p>
        </p:txBody>
      </p:sp>
      <p:cxnSp>
        <p:nvCxnSpPr>
          <p:cNvPr id="9" name="Connector 8"/>
          <p:cNvCxnSpPr/>
          <p:nvPr/>
        </p:nvCxnSpPr>
        <p:spPr>
          <a:xfrm>
            <a:off x="2529687.5" y="2354580.0"/>
            <a:ext cx="411480.0" cy="0.0"/>
          </a:xfrm>
          <a:prstGeom prst="line">
            <a:avLst/>
          </a:prstGeom>
          <a:ln w="25400">
            <a:solidFill>
              <a:srgbClr val="8B9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41167" y="1783080"/>
            <a:ext cx="1828800" cy="1143000"/>
          </a:xfrm>
          <a:prstGeom prst="roundRect">
            <a:avLst>
              <a:gd name="adj" fmla="val 12000"/>
            </a:avLst>
          </a:prstGeom>
          <a:solidFill>
            <a:srgbClr val="161D2A"/>
          </a:solidFill>
          <a:ln w="15875">
            <a:solidFill>
              <a:srgbClr val="9B7BF6"/>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tIns="0" bIns="0"/>
          <a:lstStyle/>
          <a:p>
            <a:pPr algn="ctr">
              <a:lnSpc>
                <a:spcPct val="105000"/>
              </a:lnSpc>
              <a:spcAft>
                <a:spcPts val="200"/>
              </a:spcAft>
            </a:pPr>
            <a:r>
              <a:rPr sz="1500" b="1" i="0">
                <a:solidFill>
                  <a:srgbClr val="F4F6F8"/>
                </a:solidFill>
                <a:latin typeface="Arial"/>
              </a:rPr>
              <a:t>Builds + proves</a:t>
            </a:r>
          </a:p>
          <a:p>
            <a:pPr algn="ctr">
              <a:lnSpc>
                <a:spcPct val="105000"/>
              </a:lnSpc>
              <a:spcAft>
                <a:spcPts val="0"/>
              </a:spcAft>
            </a:pPr>
            <a:r>
              <a:rPr sz="1050" b="0" i="0">
                <a:solidFill>
                  <a:srgbClr val="8B94A3"/>
                </a:solidFill>
                <a:latin typeface="Arial"/>
              </a:rPr>
              <a:t>register / authorize, locally</a:t>
            </a:r>
          </a:p>
        </p:txBody>
      </p:sp>
      <p:cxnSp>
        <p:nvCxnSpPr>
          <p:cNvPr id="11" name="Connector 10"/>
          <p:cNvCxnSpPr/>
          <p:nvPr/>
        </p:nvCxnSpPr>
        <p:spPr>
          <a:xfrm>
            <a:off x="4769967.5" y="2354580.0"/>
            <a:ext cx="411480.0" cy="0.0"/>
          </a:xfrm>
          <a:prstGeom prst="line">
            <a:avLst/>
          </a:prstGeom>
          <a:ln w="25400">
            <a:solidFill>
              <a:srgbClr val="8B9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181447" y="1783080"/>
            <a:ext cx="1828800" cy="1143000"/>
          </a:xfrm>
          <a:prstGeom prst="roundRect">
            <a:avLst>
              <a:gd name="adj" fmla="val 12000"/>
            </a:avLst>
          </a:prstGeom>
          <a:solidFill>
            <a:srgbClr val="161D2A"/>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tIns="0" bIns="0"/>
          <a:lstStyle/>
          <a:p>
            <a:pPr algn="ctr">
              <a:lnSpc>
                <a:spcPct val="105000"/>
              </a:lnSpc>
              <a:spcAft>
                <a:spcPts val="200"/>
              </a:spcAft>
            </a:pPr>
            <a:r>
              <a:rPr sz="1500" b="1" i="0">
                <a:solidFill>
                  <a:srgbClr val="F4F6F8"/>
                </a:solidFill>
                <a:latin typeface="Arial"/>
              </a:rPr>
              <a:t>Sponsor inspects</a:t>
            </a:r>
          </a:p>
          <a:p>
            <a:pPr algn="ctr">
              <a:lnSpc>
                <a:spcPct val="105000"/>
              </a:lnSpc>
              <a:spcAft>
                <a:spcPts val="0"/>
              </a:spcAft>
            </a:pPr>
            <a:r>
              <a:rPr sz="1050" b="0" i="0">
                <a:solidFill>
                  <a:srgbClr val="8B94A3"/>
                </a:solidFill>
                <a:latin typeface="Arial"/>
              </a:rPr>
              <a:t>exactly one sponsored call?</a:t>
            </a:r>
          </a:p>
        </p:txBody>
      </p:sp>
      <p:cxnSp>
        <p:nvCxnSpPr>
          <p:cNvPr id="13" name="Connector 12"/>
          <p:cNvCxnSpPr/>
          <p:nvPr/>
        </p:nvCxnSpPr>
        <p:spPr>
          <a:xfrm>
            <a:off x="7010247.5" y="2354580.0"/>
            <a:ext cx="411480.0" cy="0.0"/>
          </a:xfrm>
          <a:prstGeom prst="line">
            <a:avLst/>
          </a:prstGeom>
          <a:ln w="25400">
            <a:solidFill>
              <a:srgbClr val="8B9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21727" y="1783080"/>
            <a:ext cx="1828800" cy="1143000"/>
          </a:xfrm>
          <a:prstGeom prst="roundRect">
            <a:avLst>
              <a:gd name="adj" fmla="val 12000"/>
            </a:avLst>
          </a:prstGeom>
          <a:solidFill>
            <a:srgbClr val="161D2A"/>
          </a:solidFill>
          <a:ln w="15875">
            <a:solidFill>
              <a:srgbClr val="2DD4BF"/>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tIns="0" bIns="0"/>
          <a:lstStyle/>
          <a:p>
            <a:pPr algn="ctr">
              <a:lnSpc>
                <a:spcPct val="105000"/>
              </a:lnSpc>
              <a:spcAft>
                <a:spcPts val="200"/>
              </a:spcAft>
            </a:pPr>
            <a:r>
              <a:rPr sz="1500" b="1" i="0">
                <a:solidFill>
                  <a:srgbClr val="F4F6F8"/>
                </a:solidFill>
                <a:latin typeface="Arial"/>
              </a:rPr>
              <a:t>Balances with DUST</a:t>
            </a:r>
          </a:p>
          <a:p>
            <a:pPr algn="ctr">
              <a:lnSpc>
                <a:spcPct val="105000"/>
              </a:lnSpc>
              <a:spcAft>
                <a:spcPts val="0"/>
              </a:spcAft>
            </a:pPr>
            <a:r>
              <a:rPr sz="1050" b="0" i="0">
                <a:solidFill>
                  <a:srgbClr val="8B94A3"/>
                </a:solidFill>
                <a:latin typeface="Arial"/>
              </a:rPr>
              <a:t>balanceUnboundTransaction</a:t>
            </a:r>
          </a:p>
        </p:txBody>
      </p:sp>
      <p:cxnSp>
        <p:nvCxnSpPr>
          <p:cNvPr id="15" name="Connector 14"/>
          <p:cNvCxnSpPr/>
          <p:nvPr/>
        </p:nvCxnSpPr>
        <p:spPr>
          <a:xfrm>
            <a:off x="9250527.5" y="2354580.0"/>
            <a:ext cx="411480.0" cy="0.0"/>
          </a:xfrm>
          <a:prstGeom prst="line">
            <a:avLst/>
          </a:prstGeom>
          <a:ln w="25400">
            <a:solidFill>
              <a:srgbClr val="8B94A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662007" y="1783080"/>
            <a:ext cx="1828800" cy="1143000"/>
          </a:xfrm>
          <a:prstGeom prst="roundRect">
            <a:avLst>
              <a:gd name="adj" fmla="val 12000"/>
            </a:avLst>
          </a:prstGeom>
          <a:solidFill>
            <a:srgbClr val="161D2A"/>
          </a:solidFill>
          <a:ln w="15875">
            <a:solidFill>
              <a:srgbClr val="8B94A3"/>
            </a:solidFill>
          </a:ln>
          <a:effectLst/>
        </p:spPr>
        <p:style>
          <a:lnRef idx="1">
            <a:schemeClr val="accent1"/>
          </a:lnRef>
          <a:fillRef idx="3">
            <a:schemeClr val="accent1"/>
          </a:fillRef>
          <a:effectRef idx="2">
            <a:schemeClr val="accent1"/>
          </a:effectRef>
          <a:fontRef idx="minor">
            <a:schemeClr val="lt1"/>
          </a:fontRef>
        </p:style>
        <p:txBody>
          <a:bodyPr rtlCol="0" anchor="ctr" lIns="0" rIns="0" wrap="square" tIns="0" bIns="0"/>
          <a:lstStyle/>
          <a:p>
            <a:pPr algn="ctr">
              <a:lnSpc>
                <a:spcPct val="105000"/>
              </a:lnSpc>
              <a:spcAft>
                <a:spcPts val="200"/>
              </a:spcAft>
            </a:pPr>
            <a:r>
              <a:rPr sz="1500" b="1" i="0">
                <a:solidFill>
                  <a:srgbClr val="F4F6F8"/>
                </a:solidFill>
                <a:latin typeface="Arial"/>
              </a:rPr>
              <a:t>On-chain</a:t>
            </a:r>
          </a:p>
          <a:p>
            <a:pPr algn="ctr">
              <a:lnSpc>
                <a:spcPct val="105000"/>
              </a:lnSpc>
              <a:spcAft>
                <a:spcPts val="0"/>
              </a:spcAft>
            </a:pPr>
            <a:r>
              <a:rPr sz="1050" b="0" i="0">
                <a:solidFill>
                  <a:srgbClr val="8B94A3"/>
                </a:solidFill>
                <a:latin typeface="Arial"/>
              </a:rPr>
              <a:t>block + indexer</a:t>
            </a:r>
          </a:p>
        </p:txBody>
      </p:sp>
      <p:sp>
        <p:nvSpPr>
          <p:cNvPr id="17" name="Rounded Rectangle 16"/>
          <p:cNvSpPr/>
          <p:nvPr/>
        </p:nvSpPr>
        <p:spPr>
          <a:xfrm>
            <a:off x="594360" y="3291840"/>
            <a:ext cx="5318607" cy="288036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3456432"/>
            <a:ext cx="4916271"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What happened on the devnet</a:t>
            </a:r>
          </a:p>
        </p:txBody>
      </p:sp>
      <p:sp>
        <p:nvSpPr>
          <p:cNvPr id="19" name="TextBox 18"/>
          <p:cNvSpPr txBox="1"/>
          <p:nvPr/>
        </p:nvSpPr>
        <p:spPr>
          <a:xfrm>
            <a:off x="795528" y="3913632"/>
            <a:ext cx="4916271" cy="2148840"/>
          </a:xfrm>
          <a:prstGeom prst="rect">
            <a:avLst/>
          </a:prstGeom>
          <a:noFill/>
        </p:spPr>
        <p:txBody>
          <a:bodyPr wrap="square" anchor="t" lIns="0" rIns="0" tIns="0" bIns="0">
            <a:spAutoFit/>
          </a:bodyPr>
          <a:lstStyle/>
          <a:p>
            <a:pPr algn="l">
              <a:lnSpc>
                <a:spcPct val="125000"/>
              </a:lnSpc>
            </a:pPr>
            <a:r>
              <a:rPr sz="1250" b="0" i="0">
                <a:solidFill>
                  <a:srgbClr val="8B94A3"/>
                </a:solidFill>
                <a:latin typeface="Arial"/>
              </a:rPr>
              <a:t>Pool deployed, then the unfunded sponsee registered and authorized two slots. Each transaction was balanced and submitted by the sponsor.
Fees paid by the sponsor: 900,000,020,153,862 DUST-units across 3 transactions.
Fees paid by the sponsee: 0.</a:t>
            </a:r>
          </a:p>
        </p:txBody>
      </p:sp>
      <p:sp>
        <p:nvSpPr>
          <p:cNvPr id="20" name="Rounded Rectangle 19"/>
          <p:cNvSpPr/>
          <p:nvPr/>
        </p:nvSpPr>
        <p:spPr>
          <a:xfrm>
            <a:off x="6278727" y="3291840"/>
            <a:ext cx="5318607" cy="288036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79895" y="3456432"/>
            <a:ext cx="4916271"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A byte-level privacy check, on the real chain</a:t>
            </a:r>
          </a:p>
        </p:txBody>
      </p:sp>
      <p:sp>
        <p:nvSpPr>
          <p:cNvPr id="22" name="TextBox 21"/>
          <p:cNvSpPr txBox="1"/>
          <p:nvPr/>
        </p:nvSpPr>
        <p:spPr>
          <a:xfrm>
            <a:off x="6479895" y="3913632"/>
            <a:ext cx="4916271" cy="2148840"/>
          </a:xfrm>
          <a:prstGeom prst="rect">
            <a:avLst/>
          </a:prstGeom>
          <a:noFill/>
        </p:spPr>
        <p:txBody>
          <a:bodyPr wrap="square" anchor="t" lIns="0" rIns="0" tIns="0" bIns="0">
            <a:spAutoFit/>
          </a:bodyPr>
          <a:lstStyle/>
          <a:p>
            <a:pPr algn="l">
              <a:lnSpc>
                <a:spcPct val="125000"/>
              </a:lnSpc>
            </a:pPr>
            <a:r>
              <a:rPr sz="1250" b="0" i="0">
                <a:solidFill>
                  <a:srgbClr val="8B94A3"/>
                </a:solidFill>
                <a:latin typeface="Arial"/>
              </a:rPr>
              <a:t>We search each submitted transaction's actual bytes for the sponsee's commitment.
register: found (the positive control, proving the check can see it).
authorize x2: not found.
The Wave 2 contract does not leak the commitment on a real network, not only in simulation.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SPONSOR SAFETY</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The sponsor pays only for exactly what it agreed to</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8 / 12</a:t>
            </a:r>
          </a:p>
        </p:txBody>
      </p:sp>
      <p:sp>
        <p:nvSpPr>
          <p:cNvPr id="8" name="TextBox 7"/>
          <p:cNvSpPr txBox="1"/>
          <p:nvPr/>
        </p:nvSpPr>
        <p:spPr>
          <a:xfrm>
            <a:off x="594360" y="1554480"/>
            <a:ext cx="11002975" cy="640080"/>
          </a:xfrm>
          <a:prstGeom prst="rect">
            <a:avLst/>
          </a:prstGeom>
          <a:noFill/>
        </p:spPr>
        <p:txBody>
          <a:bodyPr wrap="square" anchor="t" lIns="0" rIns="0" tIns="0" bIns="0">
            <a:spAutoFit/>
          </a:bodyPr>
          <a:lstStyle/>
          <a:p>
            <a:pPr algn="l">
              <a:lnSpc>
                <a:spcPct val="125000"/>
              </a:lnSpc>
            </a:pPr>
            <a:r>
              <a:rPr sz="1300" b="0" i="0">
                <a:solidFill>
                  <a:srgbClr val="8B94A3"/>
                </a:solidFill>
                <a:latin typeface="Arial"/>
              </a:rPr>
              <a:t>A nullifier says nothing about the transaction it travels in. So before spending DUST, the sponsor inspects the candidate itself. Same function in the devnet service, the unit tests, and the browser.</a:t>
            </a:r>
          </a:p>
        </p:txBody>
      </p:sp>
      <p:sp>
        <p:nvSpPr>
          <p:cNvPr id="9" name="TextBox 8"/>
          <p:cNvSpPr txBox="1"/>
          <p:nvPr/>
        </p:nvSpPr>
        <p:spPr>
          <a:xfrm>
            <a:off x="731520" y="2331720"/>
            <a:ext cx="3017520" cy="274320"/>
          </a:xfrm>
          <a:prstGeom prst="rect">
            <a:avLst/>
          </a:prstGeom>
          <a:noFill/>
        </p:spPr>
        <p:txBody>
          <a:bodyPr wrap="square" anchor="t" lIns="0" rIns="0" tIns="0" bIns="0">
            <a:spAutoFit/>
          </a:bodyPr>
          <a:lstStyle/>
          <a:p>
            <a:pPr algn="l">
              <a:lnSpc>
                <a:spcPct val="100000"/>
              </a:lnSpc>
            </a:pPr>
            <a:r>
              <a:rPr sz="1000" b="1" i="0">
                <a:solidFill>
                  <a:srgbClr val="5B6473"/>
                </a:solidFill>
                <a:latin typeface="Arial"/>
              </a:rPr>
              <a:t>REFUSAL</a:t>
            </a:r>
          </a:p>
        </p:txBody>
      </p:sp>
      <p:sp>
        <p:nvSpPr>
          <p:cNvPr id="10" name="TextBox 9"/>
          <p:cNvSpPr txBox="1"/>
          <p:nvPr/>
        </p:nvSpPr>
        <p:spPr>
          <a:xfrm>
            <a:off x="3749040" y="2331720"/>
            <a:ext cx="5212080" cy="274320"/>
          </a:xfrm>
          <a:prstGeom prst="rect">
            <a:avLst/>
          </a:prstGeom>
          <a:noFill/>
        </p:spPr>
        <p:txBody>
          <a:bodyPr wrap="square" anchor="t" lIns="0" rIns="0" tIns="0" bIns="0">
            <a:spAutoFit/>
          </a:bodyPr>
          <a:lstStyle/>
          <a:p>
            <a:pPr algn="l">
              <a:lnSpc>
                <a:spcPct val="100000"/>
              </a:lnSpc>
            </a:pPr>
            <a:r>
              <a:rPr sz="1000" b="1" i="0">
                <a:solidFill>
                  <a:srgbClr val="5B6473"/>
                </a:solidFill>
                <a:latin typeface="Arial"/>
              </a:rPr>
              <a:t>ATTACK</a:t>
            </a:r>
          </a:p>
        </p:txBody>
      </p:sp>
      <p:sp>
        <p:nvSpPr>
          <p:cNvPr id="11" name="TextBox 10"/>
          <p:cNvSpPr txBox="1"/>
          <p:nvPr/>
        </p:nvSpPr>
        <p:spPr>
          <a:xfrm>
            <a:off x="8961120" y="2331720"/>
            <a:ext cx="2743200" cy="274320"/>
          </a:xfrm>
          <a:prstGeom prst="rect">
            <a:avLst/>
          </a:prstGeom>
          <a:noFill/>
        </p:spPr>
        <p:txBody>
          <a:bodyPr wrap="square" anchor="t" lIns="0" rIns="0" tIns="0" bIns="0">
            <a:spAutoFit/>
          </a:bodyPr>
          <a:lstStyle/>
          <a:p>
            <a:pPr algn="l">
              <a:lnSpc>
                <a:spcPct val="100000"/>
              </a:lnSpc>
            </a:pPr>
            <a:r>
              <a:rPr sz="1000" b="1" i="0">
                <a:solidFill>
                  <a:srgbClr val="5B6473"/>
                </a:solidFill>
                <a:latin typeface="Arial"/>
              </a:rPr>
              <a:t>EVIDENCE</a:t>
            </a:r>
          </a:p>
        </p:txBody>
      </p:sp>
      <p:cxnSp>
        <p:nvCxnSpPr>
          <p:cNvPr id="12" name="Connector 11"/>
          <p:cNvCxnSpPr/>
          <p:nvPr/>
        </p:nvCxnSpPr>
        <p:spPr>
          <a:xfrm>
            <a:off x="594360" y="262432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31520" y="2770632"/>
            <a:ext cx="2834640" cy="411480"/>
          </a:xfrm>
          <a:prstGeom prst="rect">
            <a:avLst/>
          </a:prstGeom>
          <a:noFill/>
        </p:spPr>
        <p:txBody>
          <a:bodyPr wrap="square" anchor="ctr" lIns="0" rIns="0" tIns="0" bIns="0">
            <a:spAutoFit/>
          </a:bodyPr>
          <a:lstStyle/>
          <a:p>
            <a:pPr algn="l">
              <a:lnSpc>
                <a:spcPct val="100000"/>
              </a:lnSpc>
            </a:pPr>
            <a:r>
              <a:rPr sz="1100" b="1" i="0">
                <a:solidFill>
                  <a:srgbClr val="E06B6B"/>
                </a:solidFill>
                <a:latin typeface="Consolas"/>
              </a:rPr>
              <a:t>NOT_A_CALL</a:t>
            </a:r>
          </a:p>
        </p:txBody>
      </p:sp>
      <p:sp>
        <p:nvSpPr>
          <p:cNvPr id="14" name="TextBox 13"/>
          <p:cNvSpPr txBox="1"/>
          <p:nvPr/>
        </p:nvSpPr>
        <p:spPr>
          <a:xfrm>
            <a:off x="3749040" y="2770632"/>
            <a:ext cx="5029200" cy="411480"/>
          </a:xfrm>
          <a:prstGeom prst="rect">
            <a:avLst/>
          </a:prstGeom>
          <a:noFill/>
        </p:spPr>
        <p:txBody>
          <a:bodyPr wrap="square" anchor="ctr" lIns="0" rIns="0" tIns="0" bIns="0">
            <a:spAutoFit/>
          </a:bodyPr>
          <a:lstStyle/>
          <a:p>
            <a:pPr algn="l">
              <a:lnSpc>
                <a:spcPct val="100000"/>
              </a:lnSpc>
            </a:pPr>
            <a:r>
              <a:rPr sz="1150" b="0" i="0">
                <a:solidFill>
                  <a:srgbClr val="F4F6F8"/>
                </a:solidFill>
                <a:latin typeface="Arial"/>
              </a:rPr>
              <a:t>A smuggled contract deploy or maintenance update</a:t>
            </a:r>
          </a:p>
        </p:txBody>
      </p:sp>
      <p:sp>
        <p:nvSpPr>
          <p:cNvPr id="15" name="TextBox 14"/>
          <p:cNvSpPr txBox="1"/>
          <p:nvPr/>
        </p:nvSpPr>
        <p:spPr>
          <a:xfrm>
            <a:off x="8961120" y="2770632"/>
            <a:ext cx="2560320" cy="411480"/>
          </a:xfrm>
          <a:prstGeom prst="rect">
            <a:avLst/>
          </a:prstGeom>
          <a:noFill/>
        </p:spPr>
        <p:txBody>
          <a:bodyPr wrap="square" anchor="ctr" lIns="0" rIns="0" tIns="0" bIns="0">
            <a:spAutoFit/>
          </a:bodyPr>
          <a:lstStyle/>
          <a:p>
            <a:pPr algn="l">
              <a:lnSpc>
                <a:spcPct val="100000"/>
              </a:lnSpc>
            </a:pPr>
            <a:r>
              <a:rPr sz="1150" b="0" i="0">
                <a:solidFill>
                  <a:srgbClr val="2DD4BF"/>
                </a:solidFill>
                <a:latin typeface="Arial"/>
              </a:rPr>
              <a:t>refused on a real ContractDeploy</a:t>
            </a:r>
          </a:p>
        </p:txBody>
      </p:sp>
      <p:cxnSp>
        <p:nvCxnSpPr>
          <p:cNvPr id="16" name="Connector 15"/>
          <p:cNvCxnSpPr/>
          <p:nvPr/>
        </p:nvCxnSpPr>
        <p:spPr>
          <a:xfrm>
            <a:off x="594360" y="3227832"/>
            <a:ext cx="11002975"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31520" y="3337560"/>
            <a:ext cx="2834640" cy="411480"/>
          </a:xfrm>
          <a:prstGeom prst="rect">
            <a:avLst/>
          </a:prstGeom>
          <a:noFill/>
        </p:spPr>
        <p:txBody>
          <a:bodyPr wrap="square" anchor="ctr" lIns="0" rIns="0" tIns="0" bIns="0">
            <a:spAutoFit/>
          </a:bodyPr>
          <a:lstStyle/>
          <a:p>
            <a:pPr algn="l">
              <a:lnSpc>
                <a:spcPct val="100000"/>
              </a:lnSpc>
            </a:pPr>
            <a:r>
              <a:rPr sz="1100" b="1" i="0">
                <a:solidFill>
                  <a:srgbClr val="E06B6B"/>
                </a:solidFill>
                <a:latin typeface="Consolas"/>
              </a:rPr>
              <a:t>TOO_MANY_ACTIONS</a:t>
            </a:r>
          </a:p>
        </p:txBody>
      </p:sp>
      <p:sp>
        <p:nvSpPr>
          <p:cNvPr id="18" name="TextBox 17"/>
          <p:cNvSpPr txBox="1"/>
          <p:nvPr/>
        </p:nvSpPr>
        <p:spPr>
          <a:xfrm>
            <a:off x="3749040" y="3337560"/>
            <a:ext cx="5029200" cy="411480"/>
          </a:xfrm>
          <a:prstGeom prst="rect">
            <a:avLst/>
          </a:prstGeom>
          <a:noFill/>
        </p:spPr>
        <p:txBody>
          <a:bodyPr wrap="square" anchor="ctr" lIns="0" rIns="0" tIns="0" bIns="0">
            <a:spAutoFit/>
          </a:bodyPr>
          <a:lstStyle/>
          <a:p>
            <a:pPr algn="l">
              <a:lnSpc>
                <a:spcPct val="100000"/>
              </a:lnSpc>
            </a:pPr>
            <a:r>
              <a:rPr sz="1150" b="0" i="0">
                <a:solidFill>
                  <a:srgbClr val="F4F6F8"/>
                </a:solidFill>
                <a:latin typeface="Arial"/>
              </a:rPr>
              <a:t>Five authorize calls bundled to inflate the fee</a:t>
            </a:r>
          </a:p>
        </p:txBody>
      </p:sp>
      <p:sp>
        <p:nvSpPr>
          <p:cNvPr id="19" name="TextBox 18"/>
          <p:cNvSpPr txBox="1"/>
          <p:nvPr/>
        </p:nvSpPr>
        <p:spPr>
          <a:xfrm>
            <a:off x="8961120" y="3337560"/>
            <a:ext cx="2560320" cy="411480"/>
          </a:xfrm>
          <a:prstGeom prst="rect">
            <a:avLst/>
          </a:prstGeom>
          <a:noFill/>
        </p:spPr>
        <p:txBody>
          <a:bodyPr wrap="square" anchor="ctr" lIns="0" rIns="0" tIns="0" bIns="0">
            <a:spAutoFit/>
          </a:bodyPr>
          <a:lstStyle/>
          <a:p>
            <a:pPr algn="l">
              <a:lnSpc>
                <a:spcPct val="100000"/>
              </a:lnSpc>
            </a:pPr>
            <a:r>
              <a:rPr sz="1150" b="0" i="0">
                <a:solidFill>
                  <a:srgbClr val="8B94A3"/>
                </a:solidFill>
                <a:latin typeface="Arial"/>
              </a:rPr>
              <a:t>unit-tested</a:t>
            </a:r>
          </a:p>
        </p:txBody>
      </p:sp>
      <p:cxnSp>
        <p:nvCxnSpPr>
          <p:cNvPr id="20" name="Connector 19"/>
          <p:cNvCxnSpPr/>
          <p:nvPr/>
        </p:nvCxnSpPr>
        <p:spPr>
          <a:xfrm>
            <a:off x="594360" y="3794760"/>
            <a:ext cx="11002975"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31520" y="3904488"/>
            <a:ext cx="2834640" cy="411480"/>
          </a:xfrm>
          <a:prstGeom prst="rect">
            <a:avLst/>
          </a:prstGeom>
          <a:noFill/>
        </p:spPr>
        <p:txBody>
          <a:bodyPr wrap="square" anchor="ctr" lIns="0" rIns="0" tIns="0" bIns="0">
            <a:spAutoFit/>
          </a:bodyPr>
          <a:lstStyle/>
          <a:p>
            <a:pPr algn="l">
              <a:lnSpc>
                <a:spcPct val="100000"/>
              </a:lnSpc>
            </a:pPr>
            <a:r>
              <a:rPr sz="1100" b="1" i="0">
                <a:solidFill>
                  <a:srgbClr val="E06B6B"/>
                </a:solidFill>
                <a:latin typeface="Consolas"/>
              </a:rPr>
              <a:t>WRONG_CONTRACT</a:t>
            </a:r>
          </a:p>
        </p:txBody>
      </p:sp>
      <p:sp>
        <p:nvSpPr>
          <p:cNvPr id="22" name="TextBox 21"/>
          <p:cNvSpPr txBox="1"/>
          <p:nvPr/>
        </p:nvSpPr>
        <p:spPr>
          <a:xfrm>
            <a:off x="3749040" y="3904488"/>
            <a:ext cx="5029200" cy="411480"/>
          </a:xfrm>
          <a:prstGeom prst="rect">
            <a:avLst/>
          </a:prstGeom>
          <a:noFill/>
        </p:spPr>
        <p:txBody>
          <a:bodyPr wrap="square" anchor="ctr" lIns="0" rIns="0" tIns="0" bIns="0">
            <a:spAutoFit/>
          </a:bodyPr>
          <a:lstStyle/>
          <a:p>
            <a:pPr algn="l">
              <a:lnSpc>
                <a:spcPct val="100000"/>
              </a:lnSpc>
            </a:pPr>
            <a:r>
              <a:rPr sz="1150" b="0" i="0">
                <a:solidFill>
                  <a:srgbClr val="F4F6F8"/>
                </a:solidFill>
                <a:latin typeface="Arial"/>
              </a:rPr>
              <a:t>A valid-looking call to some other contract</a:t>
            </a:r>
          </a:p>
        </p:txBody>
      </p:sp>
      <p:sp>
        <p:nvSpPr>
          <p:cNvPr id="23" name="TextBox 22"/>
          <p:cNvSpPr txBox="1"/>
          <p:nvPr/>
        </p:nvSpPr>
        <p:spPr>
          <a:xfrm>
            <a:off x="8961120" y="3904488"/>
            <a:ext cx="2560320" cy="411480"/>
          </a:xfrm>
          <a:prstGeom prst="rect">
            <a:avLst/>
          </a:prstGeom>
          <a:noFill/>
        </p:spPr>
        <p:txBody>
          <a:bodyPr wrap="square" anchor="ctr" lIns="0" rIns="0" tIns="0" bIns="0">
            <a:spAutoFit/>
          </a:bodyPr>
          <a:lstStyle/>
          <a:p>
            <a:pPr algn="l">
              <a:lnSpc>
                <a:spcPct val="100000"/>
              </a:lnSpc>
            </a:pPr>
            <a:r>
              <a:rPr sz="1150" b="0" i="0">
                <a:solidFill>
                  <a:srgbClr val="8B94A3"/>
                </a:solidFill>
                <a:latin typeface="Arial"/>
              </a:rPr>
              <a:t>unit-tested</a:t>
            </a:r>
          </a:p>
        </p:txBody>
      </p:sp>
      <p:cxnSp>
        <p:nvCxnSpPr>
          <p:cNvPr id="24" name="Connector 23"/>
          <p:cNvCxnSpPr/>
          <p:nvPr/>
        </p:nvCxnSpPr>
        <p:spPr>
          <a:xfrm>
            <a:off x="594360" y="4361688"/>
            <a:ext cx="11002975"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31520" y="4471416"/>
            <a:ext cx="2834640" cy="411480"/>
          </a:xfrm>
          <a:prstGeom prst="rect">
            <a:avLst/>
          </a:prstGeom>
          <a:noFill/>
        </p:spPr>
        <p:txBody>
          <a:bodyPr wrap="square" anchor="ctr" lIns="0" rIns="0" tIns="0" bIns="0">
            <a:spAutoFit/>
          </a:bodyPr>
          <a:lstStyle/>
          <a:p>
            <a:pPr algn="l">
              <a:lnSpc>
                <a:spcPct val="100000"/>
              </a:lnSpc>
            </a:pPr>
            <a:r>
              <a:rPr sz="1100" b="1" i="0">
                <a:solidFill>
                  <a:srgbClr val="E06B6B"/>
                </a:solidFill>
                <a:latin typeface="Consolas"/>
              </a:rPr>
              <a:t>ENTRY_POINT_NOT_SPONSORED</a:t>
            </a:r>
          </a:p>
        </p:txBody>
      </p:sp>
      <p:sp>
        <p:nvSpPr>
          <p:cNvPr id="26" name="TextBox 25"/>
          <p:cNvSpPr txBox="1"/>
          <p:nvPr/>
        </p:nvSpPr>
        <p:spPr>
          <a:xfrm>
            <a:off x="3749040" y="4471416"/>
            <a:ext cx="5029200" cy="411480"/>
          </a:xfrm>
          <a:prstGeom prst="rect">
            <a:avLst/>
          </a:prstGeom>
          <a:noFill/>
        </p:spPr>
        <p:txBody>
          <a:bodyPr wrap="square" anchor="ctr" lIns="0" rIns="0" tIns="0" bIns="0">
            <a:spAutoFit/>
          </a:bodyPr>
          <a:lstStyle/>
          <a:p>
            <a:pPr algn="l">
              <a:lnSpc>
                <a:spcPct val="100000"/>
              </a:lnSpc>
            </a:pPr>
            <a:r>
              <a:rPr sz="1150" b="0" i="0">
                <a:solidFill>
                  <a:srgbClr val="F4F6F8"/>
                </a:solidFill>
                <a:latin typeface="Arial"/>
              </a:rPr>
              <a:t>topUp / deactivate: owner-only, never a stranger's</a:t>
            </a:r>
          </a:p>
        </p:txBody>
      </p:sp>
      <p:sp>
        <p:nvSpPr>
          <p:cNvPr id="27" name="TextBox 26"/>
          <p:cNvSpPr txBox="1"/>
          <p:nvPr/>
        </p:nvSpPr>
        <p:spPr>
          <a:xfrm>
            <a:off x="8961120" y="4471416"/>
            <a:ext cx="2560320" cy="411480"/>
          </a:xfrm>
          <a:prstGeom prst="rect">
            <a:avLst/>
          </a:prstGeom>
          <a:noFill/>
        </p:spPr>
        <p:txBody>
          <a:bodyPr wrap="square" anchor="ctr" lIns="0" rIns="0" tIns="0" bIns="0">
            <a:spAutoFit/>
          </a:bodyPr>
          <a:lstStyle/>
          <a:p>
            <a:pPr algn="l">
              <a:lnSpc>
                <a:spcPct val="100000"/>
              </a:lnSpc>
            </a:pPr>
            <a:r>
              <a:rPr sz="1150" b="0" i="0">
                <a:solidFill>
                  <a:srgbClr val="8B94A3"/>
                </a:solidFill>
                <a:latin typeface="Arial"/>
              </a:rPr>
              <a:t>unit-tested</a:t>
            </a:r>
          </a:p>
        </p:txBody>
      </p:sp>
      <p:cxnSp>
        <p:nvCxnSpPr>
          <p:cNvPr id="28" name="Connector 27"/>
          <p:cNvCxnSpPr/>
          <p:nvPr/>
        </p:nvCxnSpPr>
        <p:spPr>
          <a:xfrm>
            <a:off x="594360" y="4928616"/>
            <a:ext cx="11002975"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731520" y="5038344"/>
            <a:ext cx="2834640" cy="411480"/>
          </a:xfrm>
          <a:prstGeom prst="rect">
            <a:avLst/>
          </a:prstGeom>
          <a:noFill/>
        </p:spPr>
        <p:txBody>
          <a:bodyPr wrap="square" anchor="ctr" lIns="0" rIns="0" tIns="0" bIns="0">
            <a:spAutoFit/>
          </a:bodyPr>
          <a:lstStyle/>
          <a:p>
            <a:pPr algn="l">
              <a:lnSpc>
                <a:spcPct val="100000"/>
              </a:lnSpc>
            </a:pPr>
            <a:r>
              <a:rPr sz="1100" b="1" i="0">
                <a:solidFill>
                  <a:srgbClr val="E06B6B"/>
                </a:solidFill>
                <a:latin typeface="Consolas"/>
              </a:rPr>
              <a:t>HAS_ZSWAP_MOVEMENT</a:t>
            </a:r>
          </a:p>
        </p:txBody>
      </p:sp>
      <p:sp>
        <p:nvSpPr>
          <p:cNvPr id="30" name="TextBox 29"/>
          <p:cNvSpPr txBox="1"/>
          <p:nvPr/>
        </p:nvSpPr>
        <p:spPr>
          <a:xfrm>
            <a:off x="3749040" y="5038344"/>
            <a:ext cx="5029200" cy="411480"/>
          </a:xfrm>
          <a:prstGeom prst="rect">
            <a:avLst/>
          </a:prstGeom>
          <a:noFill/>
        </p:spPr>
        <p:txBody>
          <a:bodyPr wrap="square" anchor="ctr" lIns="0" rIns="0" tIns="0" bIns="0">
            <a:spAutoFit/>
          </a:bodyPr>
          <a:lstStyle/>
          <a:p>
            <a:pPr algn="l">
              <a:lnSpc>
                <a:spcPct val="100000"/>
              </a:lnSpc>
            </a:pPr>
            <a:r>
              <a:rPr sz="1150" b="0" i="0">
                <a:solidFill>
                  <a:srgbClr val="F4F6F8"/>
                </a:solidFill>
                <a:latin typeface="Arial"/>
              </a:rPr>
              <a:t>Shielded value moving; a sponsor pays fees, not transfers</a:t>
            </a:r>
          </a:p>
        </p:txBody>
      </p:sp>
      <p:sp>
        <p:nvSpPr>
          <p:cNvPr id="31" name="TextBox 30"/>
          <p:cNvSpPr txBox="1"/>
          <p:nvPr/>
        </p:nvSpPr>
        <p:spPr>
          <a:xfrm>
            <a:off x="8961120" y="5038344"/>
            <a:ext cx="2560320" cy="411480"/>
          </a:xfrm>
          <a:prstGeom prst="rect">
            <a:avLst/>
          </a:prstGeom>
          <a:noFill/>
        </p:spPr>
        <p:txBody>
          <a:bodyPr wrap="square" anchor="ctr" lIns="0" rIns="0" tIns="0" bIns="0">
            <a:spAutoFit/>
          </a:bodyPr>
          <a:lstStyle/>
          <a:p>
            <a:pPr algn="l">
              <a:lnSpc>
                <a:spcPct val="100000"/>
              </a:lnSpc>
            </a:pPr>
            <a:r>
              <a:rPr sz="1150" b="0" i="0">
                <a:solidFill>
                  <a:srgbClr val="8B94A3"/>
                </a:solidFill>
                <a:latin typeface="Arial"/>
              </a:rPr>
              <a:t>unit-tested</a:t>
            </a:r>
          </a:p>
        </p:txBody>
      </p:sp>
      <p:cxnSp>
        <p:nvCxnSpPr>
          <p:cNvPr id="32" name="Connector 31"/>
          <p:cNvCxnSpPr/>
          <p:nvPr/>
        </p:nvCxnSpPr>
        <p:spPr>
          <a:xfrm>
            <a:off x="594360" y="5495544"/>
            <a:ext cx="11002975"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31520" y="5605272"/>
            <a:ext cx="2834640" cy="411480"/>
          </a:xfrm>
          <a:prstGeom prst="rect">
            <a:avLst/>
          </a:prstGeom>
          <a:noFill/>
        </p:spPr>
        <p:txBody>
          <a:bodyPr wrap="square" anchor="ctr" lIns="0" rIns="0" tIns="0" bIns="0">
            <a:spAutoFit/>
          </a:bodyPr>
          <a:lstStyle/>
          <a:p>
            <a:pPr algn="l">
              <a:lnSpc>
                <a:spcPct val="100000"/>
              </a:lnSpc>
            </a:pPr>
            <a:r>
              <a:rPr sz="1100" b="1" i="0">
                <a:solidFill>
                  <a:srgbClr val="E06B6B"/>
                </a:solidFill>
                <a:latin typeface="Consolas"/>
              </a:rPr>
              <a:t>NULLIFIER_ALREADY_SPENT</a:t>
            </a:r>
          </a:p>
        </p:txBody>
      </p:sp>
      <p:sp>
        <p:nvSpPr>
          <p:cNvPr id="34" name="TextBox 33"/>
          <p:cNvSpPr txBox="1"/>
          <p:nvPr/>
        </p:nvSpPr>
        <p:spPr>
          <a:xfrm>
            <a:off x="3749040" y="5605272"/>
            <a:ext cx="5029200" cy="411480"/>
          </a:xfrm>
          <a:prstGeom prst="rect">
            <a:avLst/>
          </a:prstGeom>
          <a:noFill/>
        </p:spPr>
        <p:txBody>
          <a:bodyPr wrap="square" anchor="ctr" lIns="0" rIns="0" tIns="0" bIns="0">
            <a:spAutoFit/>
          </a:bodyPr>
          <a:lstStyle/>
          <a:p>
            <a:pPr algn="l">
              <a:lnSpc>
                <a:spcPct val="100000"/>
              </a:lnSpc>
            </a:pPr>
            <a:r>
              <a:rPr sz="1150" b="0" i="0">
                <a:solidFill>
                  <a:srgbClr val="F4F6F8"/>
                </a:solidFill>
                <a:latin typeface="Arial"/>
              </a:rPr>
              <a:t>A replay that would fail on-chain after the sponsor paid</a:t>
            </a:r>
          </a:p>
        </p:txBody>
      </p:sp>
      <p:sp>
        <p:nvSpPr>
          <p:cNvPr id="35" name="TextBox 34"/>
          <p:cNvSpPr txBox="1"/>
          <p:nvPr/>
        </p:nvSpPr>
        <p:spPr>
          <a:xfrm>
            <a:off x="8961120" y="5605272"/>
            <a:ext cx="2560320" cy="411480"/>
          </a:xfrm>
          <a:prstGeom prst="rect">
            <a:avLst/>
          </a:prstGeom>
          <a:noFill/>
        </p:spPr>
        <p:txBody>
          <a:bodyPr wrap="square" anchor="ctr" lIns="0" rIns="0" tIns="0" bIns="0">
            <a:spAutoFit/>
          </a:bodyPr>
          <a:lstStyle/>
          <a:p>
            <a:pPr algn="l">
              <a:lnSpc>
                <a:spcPct val="100000"/>
              </a:lnSpc>
            </a:pPr>
            <a:r>
              <a:rPr sz="1150" b="0" i="0">
                <a:solidFill>
                  <a:srgbClr val="8B94A3"/>
                </a:solidFill>
                <a:latin typeface="Arial"/>
              </a:rPr>
              <a:t>unit-tested</a:t>
            </a:r>
          </a:p>
        </p:txBody>
      </p:sp>
      <p:cxnSp>
        <p:nvCxnSpPr>
          <p:cNvPr id="36" name="Connector 35"/>
          <p:cNvCxnSpPr/>
          <p:nvPr/>
        </p:nvCxnSpPr>
        <p:spPr>
          <a:xfrm>
            <a:off x="594360" y="6062472"/>
            <a:ext cx="11002975"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94360" y="5989320"/>
            <a:ext cx="11002975" cy="365760"/>
          </a:xfrm>
          <a:prstGeom prst="rect">
            <a:avLst/>
          </a:prstGeom>
          <a:noFill/>
        </p:spPr>
        <p:txBody>
          <a:bodyPr wrap="square" anchor="t" lIns="0" rIns="0" tIns="0" bIns="0">
            <a:spAutoFit/>
          </a:bodyPr>
          <a:lstStyle/>
          <a:p>
            <a:pPr algn="l">
              <a:lnSpc>
                <a:spcPct val="100000"/>
              </a:lnSpc>
            </a:pPr>
            <a:r>
              <a:rPr sz="1200" b="0" i="1">
                <a:solidFill>
                  <a:srgbClr val="2DD4BF"/>
                </a:solidFill>
                <a:latin typeface="Arial"/>
              </a:rPr>
              <a:t>Also on a real chain: a sponsor with no DUST fails with Wallet.InsufficientFunds and leaves no trace in the pool.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EVIDENCE</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Real transactions, reproducible by anyone</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9 / 12</a:t>
            </a:r>
          </a:p>
        </p:txBody>
      </p:sp>
      <p:sp>
        <p:nvSpPr>
          <p:cNvPr id="8" name="TextBox 7"/>
          <p:cNvSpPr txBox="1"/>
          <p:nvPr/>
        </p:nvSpPr>
        <p:spPr>
          <a:xfrm>
            <a:off x="731520" y="1691640"/>
            <a:ext cx="2743200" cy="274320"/>
          </a:xfrm>
          <a:prstGeom prst="rect">
            <a:avLst/>
          </a:prstGeom>
          <a:noFill/>
        </p:spPr>
        <p:txBody>
          <a:bodyPr wrap="square" anchor="t" lIns="0" rIns="0" tIns="0" bIns="0">
            <a:spAutoFit/>
          </a:bodyPr>
          <a:lstStyle/>
          <a:p>
            <a:pPr algn="l">
              <a:lnSpc>
                <a:spcPct val="100000"/>
              </a:lnSpc>
            </a:pPr>
            <a:r>
              <a:rPr sz="1000" b="1" i="0">
                <a:solidFill>
                  <a:srgbClr val="5B6473"/>
                </a:solidFill>
                <a:latin typeface="Arial"/>
              </a:rPr>
              <a:t>STEP</a:t>
            </a:r>
          </a:p>
        </p:txBody>
      </p:sp>
      <p:sp>
        <p:nvSpPr>
          <p:cNvPr id="9" name="TextBox 8"/>
          <p:cNvSpPr txBox="1"/>
          <p:nvPr/>
        </p:nvSpPr>
        <p:spPr>
          <a:xfrm>
            <a:off x="4572000" y="1691640"/>
            <a:ext cx="2743200" cy="274320"/>
          </a:xfrm>
          <a:prstGeom prst="rect">
            <a:avLst/>
          </a:prstGeom>
          <a:noFill/>
        </p:spPr>
        <p:txBody>
          <a:bodyPr wrap="square" anchor="t" lIns="0" rIns="0" tIns="0" bIns="0">
            <a:spAutoFit/>
          </a:bodyPr>
          <a:lstStyle/>
          <a:p>
            <a:pPr algn="l">
              <a:lnSpc>
                <a:spcPct val="100000"/>
              </a:lnSpc>
            </a:pPr>
            <a:r>
              <a:rPr sz="1000" b="1" i="0">
                <a:solidFill>
                  <a:srgbClr val="5B6473"/>
                </a:solidFill>
                <a:latin typeface="Arial"/>
              </a:rPr>
              <a:t>BLOCK</a:t>
            </a:r>
          </a:p>
        </p:txBody>
      </p:sp>
      <p:sp>
        <p:nvSpPr>
          <p:cNvPr id="10" name="TextBox 9"/>
          <p:cNvSpPr txBox="1"/>
          <p:nvPr/>
        </p:nvSpPr>
        <p:spPr>
          <a:xfrm>
            <a:off x="5852160" y="1691640"/>
            <a:ext cx="2743200" cy="274320"/>
          </a:xfrm>
          <a:prstGeom prst="rect">
            <a:avLst/>
          </a:prstGeom>
          <a:noFill/>
        </p:spPr>
        <p:txBody>
          <a:bodyPr wrap="square" anchor="t" lIns="0" rIns="0" tIns="0" bIns="0">
            <a:spAutoFit/>
          </a:bodyPr>
          <a:lstStyle/>
          <a:p>
            <a:pPr algn="l">
              <a:lnSpc>
                <a:spcPct val="100000"/>
              </a:lnSpc>
            </a:pPr>
            <a:r>
              <a:rPr sz="1000" b="1" i="0">
                <a:solidFill>
                  <a:srgbClr val="5B6473"/>
                </a:solidFill>
                <a:latin typeface="Arial"/>
              </a:rPr>
              <a:t>TRANSACTION</a:t>
            </a:r>
          </a:p>
        </p:txBody>
      </p:sp>
      <p:cxnSp>
        <p:nvCxnSpPr>
          <p:cNvPr id="11" name="Connector 10"/>
          <p:cNvCxnSpPr/>
          <p:nvPr/>
        </p:nvCxnSpPr>
        <p:spPr>
          <a:xfrm>
            <a:off x="594360" y="1984248"/>
            <a:ext cx="7406640"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31520" y="2121408"/>
            <a:ext cx="3657600" cy="365760"/>
          </a:xfrm>
          <a:prstGeom prst="rect">
            <a:avLst/>
          </a:prstGeom>
          <a:noFill/>
        </p:spPr>
        <p:txBody>
          <a:bodyPr wrap="square" anchor="t" lIns="0" rIns="0" tIns="0" bIns="0">
            <a:spAutoFit/>
          </a:bodyPr>
          <a:lstStyle/>
          <a:p>
            <a:pPr algn="l">
              <a:lnSpc>
                <a:spcPct val="100000"/>
              </a:lnSpc>
            </a:pPr>
            <a:r>
              <a:rPr sz="1150" b="0" i="0">
                <a:solidFill>
                  <a:srgbClr val="F4F6F8"/>
                </a:solidFill>
                <a:latin typeface="Arial"/>
              </a:rPr>
              <a:t>deploy</a:t>
            </a:r>
          </a:p>
        </p:txBody>
      </p:sp>
      <p:sp>
        <p:nvSpPr>
          <p:cNvPr id="13" name="TextBox 12"/>
          <p:cNvSpPr txBox="1"/>
          <p:nvPr/>
        </p:nvSpPr>
        <p:spPr>
          <a:xfrm>
            <a:off x="4572000" y="2121408"/>
            <a:ext cx="3657600" cy="365760"/>
          </a:xfrm>
          <a:prstGeom prst="rect">
            <a:avLst/>
          </a:prstGeom>
          <a:noFill/>
        </p:spPr>
        <p:txBody>
          <a:bodyPr wrap="square" anchor="t" lIns="0" rIns="0" tIns="0" bIns="0">
            <a:spAutoFit/>
          </a:bodyPr>
          <a:lstStyle/>
          <a:p>
            <a:pPr algn="l">
              <a:lnSpc>
                <a:spcPct val="100000"/>
              </a:lnSpc>
            </a:pPr>
            <a:r>
              <a:rPr sz="1150" b="0" i="0">
                <a:solidFill>
                  <a:srgbClr val="2DD4BF"/>
                </a:solidFill>
                <a:latin typeface="Consolas"/>
              </a:rPr>
              <a:t>358</a:t>
            </a:r>
          </a:p>
        </p:txBody>
      </p:sp>
      <p:sp>
        <p:nvSpPr>
          <p:cNvPr id="14" name="TextBox 13"/>
          <p:cNvSpPr txBox="1"/>
          <p:nvPr/>
        </p:nvSpPr>
        <p:spPr>
          <a:xfrm>
            <a:off x="5852160" y="2121408"/>
            <a:ext cx="3657600" cy="365760"/>
          </a:xfrm>
          <a:prstGeom prst="rect">
            <a:avLst/>
          </a:prstGeom>
          <a:noFill/>
        </p:spPr>
        <p:txBody>
          <a:bodyPr wrap="square" anchor="t" lIns="0" rIns="0" tIns="0" bIns="0">
            <a:spAutoFit/>
          </a:bodyPr>
          <a:lstStyle/>
          <a:p>
            <a:pPr algn="l">
              <a:lnSpc>
                <a:spcPct val="100000"/>
              </a:lnSpc>
            </a:pPr>
            <a:r>
              <a:rPr sz="1150" b="0" i="0">
                <a:solidFill>
                  <a:srgbClr val="2DD4BF"/>
                </a:solidFill>
                <a:latin typeface="Consolas"/>
              </a:rPr>
              <a:t>00c96c5bcd…21fe0559e5</a:t>
            </a:r>
          </a:p>
        </p:txBody>
      </p:sp>
      <p:cxnSp>
        <p:nvCxnSpPr>
          <p:cNvPr id="15" name="Connector 14"/>
          <p:cNvCxnSpPr/>
          <p:nvPr/>
        </p:nvCxnSpPr>
        <p:spPr>
          <a:xfrm>
            <a:off x="594360" y="2532888"/>
            <a:ext cx="7406640"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731520" y="2624328"/>
            <a:ext cx="3657600" cy="365760"/>
          </a:xfrm>
          <a:prstGeom prst="rect">
            <a:avLst/>
          </a:prstGeom>
          <a:noFill/>
        </p:spPr>
        <p:txBody>
          <a:bodyPr wrap="square" anchor="t" lIns="0" rIns="0" tIns="0" bIns="0">
            <a:spAutoFit/>
          </a:bodyPr>
          <a:lstStyle/>
          <a:p>
            <a:pPr algn="l">
              <a:lnSpc>
                <a:spcPct val="100000"/>
              </a:lnSpc>
            </a:pPr>
            <a:r>
              <a:rPr sz="1150" b="0" i="0">
                <a:solidFill>
                  <a:srgbClr val="F4F6F8"/>
                </a:solidFill>
                <a:latin typeface="Arial"/>
              </a:rPr>
              <a:t>register (sponsored)</a:t>
            </a:r>
          </a:p>
        </p:txBody>
      </p:sp>
      <p:sp>
        <p:nvSpPr>
          <p:cNvPr id="17" name="TextBox 16"/>
          <p:cNvSpPr txBox="1"/>
          <p:nvPr/>
        </p:nvSpPr>
        <p:spPr>
          <a:xfrm>
            <a:off x="4572000" y="2624328"/>
            <a:ext cx="3657600" cy="365760"/>
          </a:xfrm>
          <a:prstGeom prst="rect">
            <a:avLst/>
          </a:prstGeom>
          <a:noFill/>
        </p:spPr>
        <p:txBody>
          <a:bodyPr wrap="square" anchor="t" lIns="0" rIns="0" tIns="0" bIns="0">
            <a:spAutoFit/>
          </a:bodyPr>
          <a:lstStyle/>
          <a:p>
            <a:pPr algn="l">
              <a:lnSpc>
                <a:spcPct val="100000"/>
              </a:lnSpc>
            </a:pPr>
            <a:r>
              <a:rPr sz="1150" b="0" i="0">
                <a:solidFill>
                  <a:srgbClr val="2DD4BF"/>
                </a:solidFill>
                <a:latin typeface="Consolas"/>
              </a:rPr>
              <a:t>366</a:t>
            </a:r>
          </a:p>
        </p:txBody>
      </p:sp>
      <p:sp>
        <p:nvSpPr>
          <p:cNvPr id="18" name="TextBox 17"/>
          <p:cNvSpPr txBox="1"/>
          <p:nvPr/>
        </p:nvSpPr>
        <p:spPr>
          <a:xfrm>
            <a:off x="5852160" y="2624328"/>
            <a:ext cx="3657600" cy="365760"/>
          </a:xfrm>
          <a:prstGeom prst="rect">
            <a:avLst/>
          </a:prstGeom>
          <a:noFill/>
        </p:spPr>
        <p:txBody>
          <a:bodyPr wrap="square" anchor="t" lIns="0" rIns="0" tIns="0" bIns="0">
            <a:spAutoFit/>
          </a:bodyPr>
          <a:lstStyle/>
          <a:p>
            <a:pPr algn="l">
              <a:lnSpc>
                <a:spcPct val="100000"/>
              </a:lnSpc>
            </a:pPr>
            <a:r>
              <a:rPr sz="1150" b="0" i="0">
                <a:solidFill>
                  <a:srgbClr val="2DD4BF"/>
                </a:solidFill>
                <a:latin typeface="Consolas"/>
              </a:rPr>
              <a:t>00a8e444a8…6ada7001bd</a:t>
            </a:r>
          </a:p>
        </p:txBody>
      </p:sp>
      <p:cxnSp>
        <p:nvCxnSpPr>
          <p:cNvPr id="19" name="Connector 18"/>
          <p:cNvCxnSpPr/>
          <p:nvPr/>
        </p:nvCxnSpPr>
        <p:spPr>
          <a:xfrm>
            <a:off x="594360" y="3035808"/>
            <a:ext cx="7406640"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31520" y="3127248"/>
            <a:ext cx="3657600" cy="365760"/>
          </a:xfrm>
          <a:prstGeom prst="rect">
            <a:avLst/>
          </a:prstGeom>
          <a:noFill/>
        </p:spPr>
        <p:txBody>
          <a:bodyPr wrap="square" anchor="t" lIns="0" rIns="0" tIns="0" bIns="0">
            <a:spAutoFit/>
          </a:bodyPr>
          <a:lstStyle/>
          <a:p>
            <a:pPr algn="l">
              <a:lnSpc>
                <a:spcPct val="100000"/>
              </a:lnSpc>
            </a:pPr>
            <a:r>
              <a:rPr sz="1150" b="0" i="0">
                <a:solidFill>
                  <a:srgbClr val="F4F6F8"/>
                </a:solidFill>
                <a:latin typeface="Arial"/>
              </a:rPr>
              <a:t>authorize epoch 0 slot 0 (sponsored)</a:t>
            </a:r>
          </a:p>
        </p:txBody>
      </p:sp>
      <p:sp>
        <p:nvSpPr>
          <p:cNvPr id="21" name="TextBox 20"/>
          <p:cNvSpPr txBox="1"/>
          <p:nvPr/>
        </p:nvSpPr>
        <p:spPr>
          <a:xfrm>
            <a:off x="4572000" y="3127248"/>
            <a:ext cx="3657600" cy="365760"/>
          </a:xfrm>
          <a:prstGeom prst="rect">
            <a:avLst/>
          </a:prstGeom>
          <a:noFill/>
        </p:spPr>
        <p:txBody>
          <a:bodyPr wrap="square" anchor="t" lIns="0" rIns="0" tIns="0" bIns="0">
            <a:spAutoFit/>
          </a:bodyPr>
          <a:lstStyle/>
          <a:p>
            <a:pPr algn="l">
              <a:lnSpc>
                <a:spcPct val="100000"/>
              </a:lnSpc>
            </a:pPr>
            <a:r>
              <a:rPr sz="1150" b="0" i="0">
                <a:solidFill>
                  <a:srgbClr val="2DD4BF"/>
                </a:solidFill>
                <a:latin typeface="Consolas"/>
              </a:rPr>
              <a:t>372</a:t>
            </a:r>
          </a:p>
        </p:txBody>
      </p:sp>
      <p:sp>
        <p:nvSpPr>
          <p:cNvPr id="22" name="TextBox 21"/>
          <p:cNvSpPr txBox="1"/>
          <p:nvPr/>
        </p:nvSpPr>
        <p:spPr>
          <a:xfrm>
            <a:off x="5852160" y="3127248"/>
            <a:ext cx="3657600" cy="365760"/>
          </a:xfrm>
          <a:prstGeom prst="rect">
            <a:avLst/>
          </a:prstGeom>
          <a:noFill/>
        </p:spPr>
        <p:txBody>
          <a:bodyPr wrap="square" anchor="t" lIns="0" rIns="0" tIns="0" bIns="0">
            <a:spAutoFit/>
          </a:bodyPr>
          <a:lstStyle/>
          <a:p>
            <a:pPr algn="l">
              <a:lnSpc>
                <a:spcPct val="100000"/>
              </a:lnSpc>
            </a:pPr>
            <a:r>
              <a:rPr sz="1150" b="0" i="0">
                <a:solidFill>
                  <a:srgbClr val="2DD4BF"/>
                </a:solidFill>
                <a:latin typeface="Consolas"/>
              </a:rPr>
              <a:t>0027b2ab20…026097098d</a:t>
            </a:r>
          </a:p>
        </p:txBody>
      </p:sp>
      <p:cxnSp>
        <p:nvCxnSpPr>
          <p:cNvPr id="23" name="Connector 22"/>
          <p:cNvCxnSpPr/>
          <p:nvPr/>
        </p:nvCxnSpPr>
        <p:spPr>
          <a:xfrm>
            <a:off x="594360" y="3538728"/>
            <a:ext cx="7406640"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31520" y="3630168"/>
            <a:ext cx="3657600" cy="365760"/>
          </a:xfrm>
          <a:prstGeom prst="rect">
            <a:avLst/>
          </a:prstGeom>
          <a:noFill/>
        </p:spPr>
        <p:txBody>
          <a:bodyPr wrap="square" anchor="t" lIns="0" rIns="0" tIns="0" bIns="0">
            <a:spAutoFit/>
          </a:bodyPr>
          <a:lstStyle/>
          <a:p>
            <a:pPr algn="l">
              <a:lnSpc>
                <a:spcPct val="100000"/>
              </a:lnSpc>
            </a:pPr>
            <a:r>
              <a:rPr sz="1150" b="0" i="0">
                <a:solidFill>
                  <a:srgbClr val="F4F6F8"/>
                </a:solidFill>
                <a:latin typeface="Arial"/>
              </a:rPr>
              <a:t>authorize epoch 0 slot 1 (sponsored)</a:t>
            </a:r>
          </a:p>
        </p:txBody>
      </p:sp>
      <p:sp>
        <p:nvSpPr>
          <p:cNvPr id="25" name="TextBox 24"/>
          <p:cNvSpPr txBox="1"/>
          <p:nvPr/>
        </p:nvSpPr>
        <p:spPr>
          <a:xfrm>
            <a:off x="4572000" y="3630168"/>
            <a:ext cx="3657600" cy="365760"/>
          </a:xfrm>
          <a:prstGeom prst="rect">
            <a:avLst/>
          </a:prstGeom>
          <a:noFill/>
        </p:spPr>
        <p:txBody>
          <a:bodyPr wrap="square" anchor="t" lIns="0" rIns="0" tIns="0" bIns="0">
            <a:spAutoFit/>
          </a:bodyPr>
          <a:lstStyle/>
          <a:p>
            <a:pPr algn="l">
              <a:lnSpc>
                <a:spcPct val="100000"/>
              </a:lnSpc>
            </a:pPr>
            <a:r>
              <a:rPr sz="1150" b="0" i="0">
                <a:solidFill>
                  <a:srgbClr val="2DD4BF"/>
                </a:solidFill>
                <a:latin typeface="Consolas"/>
              </a:rPr>
              <a:t>382</a:t>
            </a:r>
          </a:p>
        </p:txBody>
      </p:sp>
      <p:sp>
        <p:nvSpPr>
          <p:cNvPr id="26" name="TextBox 25"/>
          <p:cNvSpPr txBox="1"/>
          <p:nvPr/>
        </p:nvSpPr>
        <p:spPr>
          <a:xfrm>
            <a:off x="5852160" y="3630168"/>
            <a:ext cx="3657600" cy="365760"/>
          </a:xfrm>
          <a:prstGeom prst="rect">
            <a:avLst/>
          </a:prstGeom>
          <a:noFill/>
        </p:spPr>
        <p:txBody>
          <a:bodyPr wrap="square" anchor="t" lIns="0" rIns="0" tIns="0" bIns="0">
            <a:spAutoFit/>
          </a:bodyPr>
          <a:lstStyle/>
          <a:p>
            <a:pPr algn="l">
              <a:lnSpc>
                <a:spcPct val="100000"/>
              </a:lnSpc>
            </a:pPr>
            <a:r>
              <a:rPr sz="1150" b="0" i="0">
                <a:solidFill>
                  <a:srgbClr val="2DD4BF"/>
                </a:solidFill>
                <a:latin typeface="Consolas"/>
              </a:rPr>
              <a:t>009e9efd4d…d381482f15</a:t>
            </a:r>
          </a:p>
        </p:txBody>
      </p:sp>
      <p:cxnSp>
        <p:nvCxnSpPr>
          <p:cNvPr id="27" name="Connector 26"/>
          <p:cNvCxnSpPr/>
          <p:nvPr/>
        </p:nvCxnSpPr>
        <p:spPr>
          <a:xfrm>
            <a:off x="594360" y="4041648"/>
            <a:ext cx="7406640" cy="0"/>
          </a:xfrm>
          <a:prstGeom prst="line">
            <a:avLst/>
          </a:prstGeom>
          <a:ln w="635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94360" y="4178808"/>
            <a:ext cx="7406640" cy="822960"/>
          </a:xfrm>
          <a:prstGeom prst="rect">
            <a:avLst/>
          </a:prstGeom>
          <a:noFill/>
        </p:spPr>
        <p:txBody>
          <a:bodyPr wrap="square" anchor="t" lIns="0" rIns="0" tIns="0" bIns="0">
            <a:spAutoFit/>
          </a:bodyPr>
          <a:lstStyle/>
          <a:p>
            <a:pPr algn="l">
              <a:lnSpc>
                <a:spcPct val="125000"/>
              </a:lnSpc>
            </a:pPr>
            <a:r>
              <a:rPr sz="1150" b="0" i="0">
                <a:solidFill>
                  <a:srgbClr val="8B94A3"/>
                </a:solidFill>
                <a:latin typeface="Arial"/>
              </a:rPr>
              <a:t>Pool 092752298f…2b46d29497 on a local devnet (node 0.22.3, indexer 4.0.0, proof-server 8.1.0). Reproduce: docker compose up, npm run compact, npm run flow.</a:t>
            </a:r>
          </a:p>
        </p:txBody>
      </p:sp>
      <p:sp>
        <p:nvSpPr>
          <p:cNvPr id="29" name="Rounded Rectangle 28"/>
          <p:cNvSpPr/>
          <p:nvPr/>
        </p:nvSpPr>
        <p:spPr>
          <a:xfrm>
            <a:off x="8412480" y="1691640"/>
            <a:ext cx="1481328" cy="132588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1874520"/>
            <a:ext cx="1481328" cy="640080"/>
          </a:xfrm>
          <a:prstGeom prst="rect">
            <a:avLst/>
          </a:prstGeom>
          <a:noFill/>
        </p:spPr>
        <p:txBody>
          <a:bodyPr wrap="square" anchor="t" lIns="0" rIns="0" tIns="0" bIns="0">
            <a:spAutoFit/>
          </a:bodyPr>
          <a:lstStyle/>
          <a:p>
            <a:pPr algn="ctr">
              <a:lnSpc>
                <a:spcPct val="100000"/>
              </a:lnSpc>
            </a:pPr>
            <a:r>
              <a:rPr sz="3400" b="1" i="0">
                <a:solidFill>
                  <a:srgbClr val="2DD4BF"/>
                </a:solidFill>
                <a:latin typeface="Arial"/>
              </a:rPr>
              <a:t>34</a:t>
            </a:r>
          </a:p>
        </p:txBody>
      </p:sp>
      <p:sp>
        <p:nvSpPr>
          <p:cNvPr id="31" name="TextBox 30"/>
          <p:cNvSpPr txBox="1"/>
          <p:nvPr/>
        </p:nvSpPr>
        <p:spPr>
          <a:xfrm>
            <a:off x="8412480" y="2560320"/>
            <a:ext cx="1481328" cy="365760"/>
          </a:xfrm>
          <a:prstGeom prst="rect">
            <a:avLst/>
          </a:prstGeom>
          <a:noFill/>
        </p:spPr>
        <p:txBody>
          <a:bodyPr wrap="square" anchor="t" lIns="0" rIns="0" tIns="0" bIns="0">
            <a:spAutoFit/>
          </a:bodyPr>
          <a:lstStyle/>
          <a:p>
            <a:pPr algn="ctr">
              <a:lnSpc>
                <a:spcPct val="100000"/>
              </a:lnSpc>
            </a:pPr>
            <a:r>
              <a:rPr sz="1100" b="0" i="0">
                <a:solidFill>
                  <a:srgbClr val="8B94A3"/>
                </a:solidFill>
                <a:latin typeface="Arial"/>
              </a:rPr>
              <a:t>contract tests</a:t>
            </a:r>
          </a:p>
        </p:txBody>
      </p:sp>
      <p:sp>
        <p:nvSpPr>
          <p:cNvPr id="32" name="Rounded Rectangle 31"/>
          <p:cNvSpPr/>
          <p:nvPr/>
        </p:nvSpPr>
        <p:spPr>
          <a:xfrm>
            <a:off x="10040112" y="1691640"/>
            <a:ext cx="1481328" cy="132588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040112" y="1874520"/>
            <a:ext cx="1481328" cy="640080"/>
          </a:xfrm>
          <a:prstGeom prst="rect">
            <a:avLst/>
          </a:prstGeom>
          <a:noFill/>
        </p:spPr>
        <p:txBody>
          <a:bodyPr wrap="square" anchor="t" lIns="0" rIns="0" tIns="0" bIns="0">
            <a:spAutoFit/>
          </a:bodyPr>
          <a:lstStyle/>
          <a:p>
            <a:pPr algn="ctr">
              <a:lnSpc>
                <a:spcPct val="100000"/>
              </a:lnSpc>
            </a:pPr>
            <a:r>
              <a:rPr sz="3400" b="1" i="0">
                <a:solidFill>
                  <a:srgbClr val="2DD4BF"/>
                </a:solidFill>
                <a:latin typeface="Arial"/>
              </a:rPr>
              <a:t>24</a:t>
            </a:r>
          </a:p>
        </p:txBody>
      </p:sp>
      <p:sp>
        <p:nvSpPr>
          <p:cNvPr id="34" name="TextBox 33"/>
          <p:cNvSpPr txBox="1"/>
          <p:nvPr/>
        </p:nvSpPr>
        <p:spPr>
          <a:xfrm>
            <a:off x="10040112" y="2560320"/>
            <a:ext cx="1481328" cy="365760"/>
          </a:xfrm>
          <a:prstGeom prst="rect">
            <a:avLst/>
          </a:prstGeom>
          <a:noFill/>
        </p:spPr>
        <p:txBody>
          <a:bodyPr wrap="square" anchor="t" lIns="0" rIns="0" tIns="0" bIns="0">
            <a:spAutoFit/>
          </a:bodyPr>
          <a:lstStyle/>
          <a:p>
            <a:pPr algn="ctr">
              <a:lnSpc>
                <a:spcPct val="100000"/>
              </a:lnSpc>
            </a:pPr>
            <a:r>
              <a:rPr sz="1100" b="0" i="0">
                <a:solidFill>
                  <a:srgbClr val="8B94A3"/>
                </a:solidFill>
                <a:latin typeface="Arial"/>
              </a:rPr>
              <a:t>inspector tests</a:t>
            </a:r>
          </a:p>
        </p:txBody>
      </p:sp>
      <p:sp>
        <p:nvSpPr>
          <p:cNvPr id="35" name="Rounded Rectangle 34"/>
          <p:cNvSpPr/>
          <p:nvPr/>
        </p:nvSpPr>
        <p:spPr>
          <a:xfrm>
            <a:off x="8412480" y="3200400"/>
            <a:ext cx="1481328" cy="132588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0" y="3383280"/>
            <a:ext cx="1481328" cy="640080"/>
          </a:xfrm>
          <a:prstGeom prst="rect">
            <a:avLst/>
          </a:prstGeom>
          <a:noFill/>
        </p:spPr>
        <p:txBody>
          <a:bodyPr wrap="square" anchor="t" lIns="0" rIns="0" tIns="0" bIns="0">
            <a:spAutoFit/>
          </a:bodyPr>
          <a:lstStyle/>
          <a:p>
            <a:pPr algn="ctr">
              <a:lnSpc>
                <a:spcPct val="100000"/>
              </a:lnSpc>
            </a:pPr>
            <a:r>
              <a:rPr sz="3400" b="1" i="0">
                <a:solidFill>
                  <a:srgbClr val="2DD4BF"/>
                </a:solidFill>
                <a:latin typeface="Arial"/>
              </a:rPr>
              <a:t>12</a:t>
            </a:r>
          </a:p>
        </p:txBody>
      </p:sp>
      <p:sp>
        <p:nvSpPr>
          <p:cNvPr id="37" name="TextBox 36"/>
          <p:cNvSpPr txBox="1"/>
          <p:nvPr/>
        </p:nvSpPr>
        <p:spPr>
          <a:xfrm>
            <a:off x="8412480" y="4069080"/>
            <a:ext cx="1481328" cy="365760"/>
          </a:xfrm>
          <a:prstGeom prst="rect">
            <a:avLst/>
          </a:prstGeom>
          <a:noFill/>
        </p:spPr>
        <p:txBody>
          <a:bodyPr wrap="square" anchor="t" lIns="0" rIns="0" tIns="0" bIns="0">
            <a:spAutoFit/>
          </a:bodyPr>
          <a:lstStyle/>
          <a:p>
            <a:pPr algn="ctr">
              <a:lnSpc>
                <a:spcPct val="100000"/>
              </a:lnSpc>
            </a:pPr>
            <a:r>
              <a:rPr sz="1100" b="0" i="0">
                <a:solidFill>
                  <a:srgbClr val="8B94A3"/>
                </a:solidFill>
                <a:latin typeface="Arial"/>
              </a:rPr>
              <a:t>browser e2e checks</a:t>
            </a:r>
          </a:p>
        </p:txBody>
      </p:sp>
      <p:sp>
        <p:nvSpPr>
          <p:cNvPr id="38" name="Rounded Rectangle 37"/>
          <p:cNvSpPr/>
          <p:nvPr/>
        </p:nvSpPr>
        <p:spPr>
          <a:xfrm>
            <a:off x="10040112" y="3200400"/>
            <a:ext cx="1481328" cy="1325880"/>
          </a:xfrm>
          <a:prstGeom prst="roundRect">
            <a:avLst>
              <a:gd name="adj" fmla="val 8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040112" y="3383280"/>
            <a:ext cx="1481328" cy="640080"/>
          </a:xfrm>
          <a:prstGeom prst="rect">
            <a:avLst/>
          </a:prstGeom>
          <a:noFill/>
        </p:spPr>
        <p:txBody>
          <a:bodyPr wrap="square" anchor="t" lIns="0" rIns="0" tIns="0" bIns="0">
            <a:spAutoFit/>
          </a:bodyPr>
          <a:lstStyle/>
          <a:p>
            <a:pPr algn="ctr">
              <a:lnSpc>
                <a:spcPct val="100000"/>
              </a:lnSpc>
            </a:pPr>
            <a:r>
              <a:rPr sz="3400" b="1" i="0">
                <a:solidFill>
                  <a:srgbClr val="2DD4BF"/>
                </a:solidFill>
                <a:latin typeface="Arial"/>
              </a:rPr>
              <a:t>1</a:t>
            </a:r>
          </a:p>
        </p:txBody>
      </p:sp>
      <p:sp>
        <p:nvSpPr>
          <p:cNvPr id="40" name="TextBox 39"/>
          <p:cNvSpPr txBox="1"/>
          <p:nvPr/>
        </p:nvSpPr>
        <p:spPr>
          <a:xfrm>
            <a:off x="10040112" y="4069080"/>
            <a:ext cx="1481328" cy="365760"/>
          </a:xfrm>
          <a:prstGeom prst="rect">
            <a:avLst/>
          </a:prstGeom>
          <a:noFill/>
        </p:spPr>
        <p:txBody>
          <a:bodyPr wrap="square" anchor="t" lIns="0" rIns="0" tIns="0" bIns="0">
            <a:spAutoFit/>
          </a:bodyPr>
          <a:lstStyle/>
          <a:p>
            <a:pPr algn="ctr">
              <a:lnSpc>
                <a:spcPct val="100000"/>
              </a:lnSpc>
            </a:pPr>
            <a:r>
              <a:rPr sz="1100" b="0" i="0">
                <a:solidFill>
                  <a:srgbClr val="8B94A3"/>
                </a:solidFill>
                <a:latin typeface="Arial"/>
              </a:rPr>
              <a:t>wave-1 control</a:t>
            </a:r>
          </a:p>
        </p:txBody>
      </p:sp>
      <p:sp>
        <p:nvSpPr>
          <p:cNvPr id="41" name="Rounded Rectangle 40"/>
          <p:cNvSpPr/>
          <p:nvPr/>
        </p:nvSpPr>
        <p:spPr>
          <a:xfrm>
            <a:off x="8412480" y="4800600"/>
            <a:ext cx="3108960" cy="1371600"/>
          </a:xfrm>
          <a:prstGeom prst="roundRect">
            <a:avLst>
              <a:gd name="adj" fmla="val 8000"/>
            </a:avLst>
          </a:prstGeom>
          <a:solidFill>
            <a:srgbClr val="111722"/>
          </a:solidFill>
          <a:ln w="12700">
            <a:solidFill>
              <a:srgbClr val="F5A62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595360" y="4892040"/>
            <a:ext cx="2743200" cy="320040"/>
          </a:xfrm>
          <a:prstGeom prst="rect">
            <a:avLst/>
          </a:prstGeom>
          <a:noFill/>
        </p:spPr>
        <p:txBody>
          <a:bodyPr wrap="square" anchor="t" lIns="0" rIns="0" tIns="0" bIns="0">
            <a:spAutoFit/>
          </a:bodyPr>
          <a:lstStyle/>
          <a:p>
            <a:pPr algn="l">
              <a:lnSpc>
                <a:spcPct val="100000"/>
              </a:lnSpc>
            </a:pPr>
            <a:r>
              <a:rPr sz="1100" b="1" i="0">
                <a:solidFill>
                  <a:srgbClr val="F5A623"/>
                </a:solidFill>
                <a:latin typeface="Arial"/>
              </a:rPr>
              <a:t>NOT YET LIVE</a:t>
            </a:r>
          </a:p>
        </p:txBody>
      </p:sp>
      <p:sp>
        <p:nvSpPr>
          <p:cNvPr id="43" name="TextBox 42"/>
          <p:cNvSpPr txBox="1"/>
          <p:nvPr/>
        </p:nvSpPr>
        <p:spPr>
          <a:xfrm>
            <a:off x="8595360" y="5212080"/>
            <a:ext cx="2743200" cy="914400"/>
          </a:xfrm>
          <a:prstGeom prst="rect">
            <a:avLst/>
          </a:prstGeom>
          <a:noFill/>
        </p:spPr>
        <p:txBody>
          <a:bodyPr wrap="square" anchor="t" lIns="0" rIns="0" tIns="0" bIns="0">
            <a:spAutoFit/>
          </a:bodyPr>
          <a:lstStyle/>
          <a:p>
            <a:pPr algn="l">
              <a:lnSpc>
                <a:spcPct val="120000"/>
              </a:lnSpc>
            </a:pPr>
            <a:r>
              <a:rPr sz="1150" b="0" i="0">
                <a:solidFill>
                  <a:srgbClr val="8B94A3"/>
                </a:solidFill>
                <a:latin typeface="Arial"/>
              </a:rPr>
              <a:t>No Preprod or mainnet deployment yet. Everything above ran on a local devnet. We say so plainly.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THE CONSOLE</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Try to link a member. Try to break the pool.</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10 / 12</a:t>
            </a:r>
          </a:p>
        </p:txBody>
      </p:sp>
      <p:pic>
        <p:nvPicPr>
          <p:cNvPr id="8" name="Picture 7" descr="console-linkability-lab.png"/>
          <p:cNvPicPr>
            <a:picLocks noChangeAspect="1"/>
          </p:cNvPicPr>
          <p:nvPr/>
        </p:nvPicPr>
        <p:blipFill>
          <a:blip r:embed="rId2"/>
          <a:srcRect b="33097"/>
          <a:stretch>
            <a:fillRect/>
          </a:stretch>
        </p:blipFill>
        <p:spPr>
          <a:xfrm>
            <a:off x="594360" y="1645920"/>
            <a:ext cx="3611880" cy="3566160"/>
          </a:xfrm>
          <a:prstGeom prst="rect">
            <a:avLst/>
          </a:prstGeom>
          <a:ln w="12700">
            <a:solidFill>
              <a:srgbClr val="27303F"/>
            </a:solidFill>
          </a:ln>
        </p:spPr>
      </p:pic>
      <p:pic>
        <p:nvPicPr>
          <p:cNvPr id="9" name="Picture 8" descr="console-attack-lab.png"/>
          <p:cNvPicPr>
            <a:picLocks noChangeAspect="1"/>
          </p:cNvPicPr>
          <p:nvPr/>
        </p:nvPicPr>
        <p:blipFill>
          <a:blip r:embed="rId3"/>
          <a:srcRect b="31871"/>
          <a:stretch>
            <a:fillRect/>
          </a:stretch>
        </p:blipFill>
        <p:spPr>
          <a:xfrm>
            <a:off x="4434840" y="1645920"/>
            <a:ext cx="3611880" cy="3566160"/>
          </a:xfrm>
          <a:prstGeom prst="rect">
            <a:avLst/>
          </a:prstGeom>
          <a:ln w="12700">
            <a:solidFill>
              <a:srgbClr val="27303F"/>
            </a:solidFill>
          </a:ln>
        </p:spPr>
      </p:pic>
      <p:pic>
        <p:nvPicPr>
          <p:cNvPr id="10" name="Picture 9" descr="console-onchain.png"/>
          <p:cNvPicPr>
            <a:picLocks noChangeAspect="1"/>
          </p:cNvPicPr>
          <p:nvPr/>
        </p:nvPicPr>
        <p:blipFill>
          <a:blip r:embed="rId4"/>
          <a:srcRect b="25746"/>
          <a:stretch>
            <a:fillRect/>
          </a:stretch>
        </p:blipFill>
        <p:spPr>
          <a:xfrm>
            <a:off x="8275320" y="1645920"/>
            <a:ext cx="3611880" cy="3566160"/>
          </a:xfrm>
          <a:prstGeom prst="rect">
            <a:avLst/>
          </a:prstGeom>
          <a:ln w="12700">
            <a:solidFill>
              <a:srgbClr val="27303F"/>
            </a:solidFill>
          </a:ln>
        </p:spPr>
      </p:pic>
      <p:sp>
        <p:nvSpPr>
          <p:cNvPr id="11" name="TextBox 10"/>
          <p:cNvSpPr txBox="1"/>
          <p:nvPr/>
        </p:nvSpPr>
        <p:spPr>
          <a:xfrm>
            <a:off x="594360" y="5440680"/>
            <a:ext cx="3657600" cy="320040"/>
          </a:xfrm>
          <a:prstGeom prst="rect">
            <a:avLst/>
          </a:prstGeom>
          <a:noFill/>
        </p:spPr>
        <p:txBody>
          <a:bodyPr wrap="square" anchor="t" lIns="0" rIns="0" tIns="0" bIns="0">
            <a:spAutoFit/>
          </a:bodyPr>
          <a:lstStyle/>
          <a:p>
            <a:pPr algn="l">
              <a:lnSpc>
                <a:spcPct val="100000"/>
              </a:lnSpc>
            </a:pPr>
            <a:r>
              <a:rPr sz="1300" b="1" i="0">
                <a:solidFill>
                  <a:srgbClr val="2DD4BF"/>
                </a:solidFill>
                <a:latin typeface="Arial"/>
              </a:rPr>
              <a:t>Linkability lab</a:t>
            </a:r>
          </a:p>
        </p:txBody>
      </p:sp>
      <p:sp>
        <p:nvSpPr>
          <p:cNvPr id="12" name="TextBox 11"/>
          <p:cNvSpPr txBox="1"/>
          <p:nvPr/>
        </p:nvSpPr>
        <p:spPr>
          <a:xfrm>
            <a:off x="594360" y="5760720"/>
            <a:ext cx="3657600" cy="640080"/>
          </a:xfrm>
          <a:prstGeom prst="rect">
            <a:avLst/>
          </a:prstGeom>
          <a:noFill/>
        </p:spPr>
        <p:txBody>
          <a:bodyPr wrap="square" anchor="t" lIns="0" rIns="0" tIns="0" bIns="0">
            <a:spAutoFit/>
          </a:bodyPr>
          <a:lstStyle/>
          <a:p>
            <a:pPr algn="l">
              <a:lnSpc>
                <a:spcPct val="120000"/>
              </a:lnSpc>
            </a:pPr>
            <a:r>
              <a:rPr sz="1100" b="0" i="0">
                <a:solidFill>
                  <a:srgbClr val="8B94A3"/>
                </a:solidFill>
                <a:latin typeface="Arial"/>
              </a:rPr>
              <a:t>Same member, both contracts. Search the public transcript for their commitment.</a:t>
            </a:r>
          </a:p>
        </p:txBody>
      </p:sp>
      <p:sp>
        <p:nvSpPr>
          <p:cNvPr id="13" name="TextBox 12"/>
          <p:cNvSpPr txBox="1"/>
          <p:nvPr/>
        </p:nvSpPr>
        <p:spPr>
          <a:xfrm>
            <a:off x="4434840" y="5440680"/>
            <a:ext cx="3657600" cy="320040"/>
          </a:xfrm>
          <a:prstGeom prst="rect">
            <a:avLst/>
          </a:prstGeom>
          <a:noFill/>
        </p:spPr>
        <p:txBody>
          <a:bodyPr wrap="square" anchor="t" lIns="0" rIns="0" tIns="0" bIns="0">
            <a:spAutoFit/>
          </a:bodyPr>
          <a:lstStyle/>
          <a:p>
            <a:pPr algn="l">
              <a:lnSpc>
                <a:spcPct val="100000"/>
              </a:lnSpc>
            </a:pPr>
            <a:r>
              <a:rPr sz="1300" b="1" i="0">
                <a:solidFill>
                  <a:srgbClr val="2DD4BF"/>
                </a:solidFill>
                <a:latin typeface="Arial"/>
              </a:rPr>
              <a:t>Attack lab</a:t>
            </a:r>
          </a:p>
        </p:txBody>
      </p:sp>
      <p:sp>
        <p:nvSpPr>
          <p:cNvPr id="14" name="TextBox 13"/>
          <p:cNvSpPr txBox="1"/>
          <p:nvPr/>
        </p:nvSpPr>
        <p:spPr>
          <a:xfrm>
            <a:off x="4434840" y="5760720"/>
            <a:ext cx="3657600" cy="640080"/>
          </a:xfrm>
          <a:prstGeom prst="rect">
            <a:avLst/>
          </a:prstGeom>
          <a:noFill/>
        </p:spPr>
        <p:txBody>
          <a:bodyPr wrap="square" anchor="t" lIns="0" rIns="0" tIns="0" bIns="0">
            <a:spAutoFit/>
          </a:bodyPr>
          <a:lstStyle/>
          <a:p>
            <a:pPr algn="l">
              <a:lnSpc>
                <a:spcPct val="120000"/>
              </a:lnSpc>
            </a:pPr>
            <a:r>
              <a:rPr sz="1100" b="0" i="0">
                <a:solidFill>
                  <a:srgbClr val="8B94A3"/>
                </a:solidFill>
                <a:latin typeface="Arial"/>
              </a:rPr>
              <a:t>Ten attacks on fresh pools. A pass means the circuit refused.</a:t>
            </a:r>
          </a:p>
        </p:txBody>
      </p:sp>
      <p:sp>
        <p:nvSpPr>
          <p:cNvPr id="15" name="TextBox 14"/>
          <p:cNvSpPr txBox="1"/>
          <p:nvPr/>
        </p:nvSpPr>
        <p:spPr>
          <a:xfrm>
            <a:off x="8275320" y="5440680"/>
            <a:ext cx="3657600" cy="320040"/>
          </a:xfrm>
          <a:prstGeom prst="rect">
            <a:avLst/>
          </a:prstGeom>
          <a:noFill/>
        </p:spPr>
        <p:txBody>
          <a:bodyPr wrap="square" anchor="t" lIns="0" rIns="0" tIns="0" bIns="0">
            <a:spAutoFit/>
          </a:bodyPr>
          <a:lstStyle/>
          <a:p>
            <a:pPr algn="l">
              <a:lnSpc>
                <a:spcPct val="100000"/>
              </a:lnSpc>
            </a:pPr>
            <a:r>
              <a:rPr sz="1300" b="1" i="0">
                <a:solidFill>
                  <a:srgbClr val="2DD4BF"/>
                </a:solidFill>
                <a:latin typeface="Arial"/>
              </a:rPr>
              <a:t>On-chain tab</a:t>
            </a:r>
          </a:p>
        </p:txBody>
      </p:sp>
      <p:sp>
        <p:nvSpPr>
          <p:cNvPr id="16" name="TextBox 15"/>
          <p:cNvSpPr txBox="1"/>
          <p:nvPr/>
        </p:nvSpPr>
        <p:spPr>
          <a:xfrm>
            <a:off x="8275320" y="5760720"/>
            <a:ext cx="3657600" cy="640080"/>
          </a:xfrm>
          <a:prstGeom prst="rect">
            <a:avLst/>
          </a:prstGeom>
          <a:noFill/>
        </p:spPr>
        <p:txBody>
          <a:bodyPr wrap="square" anchor="t" lIns="0" rIns="0" tIns="0" bIns="0">
            <a:spAutoFit/>
          </a:bodyPr>
          <a:lstStyle/>
          <a:p>
            <a:pPr algn="l">
              <a:lnSpc>
                <a:spcPct val="120000"/>
              </a:lnSpc>
            </a:pPr>
            <a:r>
              <a:rPr sz="1100" b="0" i="0">
                <a:solidFill>
                  <a:srgbClr val="8B94A3"/>
                </a:solidFill>
                <a:latin typeface="Arial"/>
              </a:rPr>
              <a:t>The devnet transactions, fees and byte-level check, read from the evidence file.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WHY WAVE 1 NEVER DEPLOYED</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A silent version mismatch, found by comparing a working stack</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11 / 12</a:t>
            </a:r>
          </a:p>
        </p:txBody>
      </p:sp>
      <p:sp>
        <p:nvSpPr>
          <p:cNvPr id="8" name="Rounded Rectangle 7"/>
          <p:cNvSpPr/>
          <p:nvPr/>
        </p:nvSpPr>
        <p:spPr>
          <a:xfrm>
            <a:off x="594360" y="1737360"/>
            <a:ext cx="5318607" cy="228600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01952"/>
            <a:ext cx="4916271" cy="411480"/>
          </a:xfrm>
          <a:prstGeom prst="rect">
            <a:avLst/>
          </a:prstGeom>
          <a:noFill/>
        </p:spPr>
        <p:txBody>
          <a:bodyPr wrap="square" anchor="t" lIns="0" rIns="0" tIns="0" bIns="0">
            <a:spAutoFit/>
          </a:bodyPr>
          <a:lstStyle/>
          <a:p>
            <a:pPr algn="l">
              <a:lnSpc>
                <a:spcPct val="100000"/>
              </a:lnSpc>
            </a:pPr>
            <a:r>
              <a:rPr sz="1400" b="1" i="0">
                <a:solidFill>
                  <a:srgbClr val="E06B6B"/>
                </a:solidFill>
                <a:latin typeface="Arial"/>
              </a:rPr>
              <a:t>Wave 1 stack</a:t>
            </a:r>
          </a:p>
        </p:txBody>
      </p:sp>
      <p:sp>
        <p:nvSpPr>
          <p:cNvPr id="10" name="TextBox 9"/>
          <p:cNvSpPr txBox="1"/>
          <p:nvPr/>
        </p:nvSpPr>
        <p:spPr>
          <a:xfrm>
            <a:off x="795528" y="2359152"/>
            <a:ext cx="4916271" cy="1554480"/>
          </a:xfrm>
          <a:prstGeom prst="rect">
            <a:avLst/>
          </a:prstGeom>
          <a:noFill/>
        </p:spPr>
        <p:txBody>
          <a:bodyPr wrap="square" anchor="t" lIns="0" rIns="0" tIns="0" bIns="0">
            <a:spAutoFit/>
          </a:bodyPr>
          <a:lstStyle/>
          <a:p>
            <a:pPr algn="l">
              <a:lnSpc>
                <a:spcPct val="125000"/>
              </a:lnSpc>
            </a:pPr>
            <a:r>
              <a:rPr sz="1300" b="0" i="0">
                <a:solidFill>
                  <a:srgbClr val="8B94A3"/>
                </a:solidFill>
                <a:latin typeface="Arial"/>
              </a:rPr>
              <a:t>node 1.0.0 · indexer 4.3.3 · proof-server 8.1.0
Proofs generated, wallet balanced, transaction submitted. Then nothing: no error, no block. The node dropped it silently.</a:t>
            </a:r>
          </a:p>
        </p:txBody>
      </p:sp>
      <p:sp>
        <p:nvSpPr>
          <p:cNvPr id="11" name="Rounded Rectangle 10"/>
          <p:cNvSpPr/>
          <p:nvPr/>
        </p:nvSpPr>
        <p:spPr>
          <a:xfrm>
            <a:off x="6278727" y="1737360"/>
            <a:ext cx="5318607" cy="228600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9895" y="1901952"/>
            <a:ext cx="4916271"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Wave 2 stack (pinned)</a:t>
            </a:r>
          </a:p>
        </p:txBody>
      </p:sp>
      <p:sp>
        <p:nvSpPr>
          <p:cNvPr id="13" name="TextBox 12"/>
          <p:cNvSpPr txBox="1"/>
          <p:nvPr/>
        </p:nvSpPr>
        <p:spPr>
          <a:xfrm>
            <a:off x="6479895" y="2359152"/>
            <a:ext cx="4916271" cy="1554480"/>
          </a:xfrm>
          <a:prstGeom prst="rect">
            <a:avLst/>
          </a:prstGeom>
          <a:noFill/>
        </p:spPr>
        <p:txBody>
          <a:bodyPr wrap="square" anchor="t" lIns="0" rIns="0" tIns="0" bIns="0">
            <a:spAutoFit/>
          </a:bodyPr>
          <a:lstStyle/>
          <a:p>
            <a:pPr algn="l">
              <a:lnSpc>
                <a:spcPct val="125000"/>
              </a:lnSpc>
            </a:pPr>
            <a:r>
              <a:rPr sz="1300" b="0" i="0">
                <a:solidFill>
                  <a:srgbClr val="8B94A3"/>
                </a:solidFill>
                <a:latin typeface="Arial"/>
              </a:rPr>
              <a:t>node 0.22.3 · indexer 4.0.0 · proof-server 8.1.0
The set the stable SDK line (midnight-js 4.1.1, ledger-v8 8.1.2) was validated against. Deploy lands in about 20 seconds.</a:t>
            </a:r>
          </a:p>
        </p:txBody>
      </p:sp>
      <p:sp>
        <p:nvSpPr>
          <p:cNvPr id="14" name="Rounded Rectangle 13"/>
          <p:cNvSpPr/>
          <p:nvPr/>
        </p:nvSpPr>
        <p:spPr>
          <a:xfrm>
            <a:off x="594360" y="4251960"/>
            <a:ext cx="11002975" cy="182880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389120"/>
            <a:ext cx="10454335" cy="365760"/>
          </a:xfrm>
          <a:prstGeom prst="rect">
            <a:avLst/>
          </a:prstGeom>
          <a:noFill/>
        </p:spPr>
        <p:txBody>
          <a:bodyPr wrap="square" anchor="t" lIns="0" rIns="0" tIns="0" bIns="0">
            <a:spAutoFit/>
          </a:bodyPr>
          <a:lstStyle/>
          <a:p>
            <a:pPr algn="l">
              <a:lnSpc>
                <a:spcPct val="100000"/>
              </a:lnSpc>
            </a:pPr>
            <a:r>
              <a:rPr sz="1100" b="1" i="0">
                <a:solidFill>
                  <a:srgbClr val="9B7BF6"/>
                </a:solidFill>
                <a:latin typeface="Arial"/>
              </a:rPr>
              <a:t>WHY THIS MATTERS TO OTHER BUILDERS</a:t>
            </a:r>
          </a:p>
        </p:txBody>
      </p:sp>
      <p:sp>
        <p:nvSpPr>
          <p:cNvPr id="16" name="TextBox 15"/>
          <p:cNvSpPr txBox="1"/>
          <p:nvPr/>
        </p:nvSpPr>
        <p:spPr>
          <a:xfrm>
            <a:off x="868680" y="4754880"/>
            <a:ext cx="10454335" cy="1280160"/>
          </a:xfrm>
          <a:prstGeom prst="rect">
            <a:avLst/>
          </a:prstGeom>
          <a:noFill/>
        </p:spPr>
        <p:txBody>
          <a:bodyPr wrap="square" anchor="t" lIns="0" rIns="0" tIns="0" bIns="0">
            <a:spAutoFit/>
          </a:bodyPr>
          <a:lstStyle/>
          <a:p>
            <a:pPr algn="l">
              <a:lnSpc>
                <a:spcPct val="125000"/>
              </a:lnSpc>
              <a:spcAft>
                <a:spcPts val="800"/>
              </a:spcAft>
            </a:pPr>
            <a:r>
              <a:rPr sz="1300" b="0" i="0">
                <a:solidFill>
                  <a:srgbClr val="F4F6F8"/>
                </a:solidFill>
                <a:latin typeface="Arial"/>
              </a:rPr>
              <a:t>Newer node/indexer tags do not mean newer-is-better for the current SDK line. A mismatch fails silently, at submission.</a:t>
            </a:r>
          </a:p>
          <a:p>
            <a:pPr algn="l">
              <a:lnSpc>
                <a:spcPct val="125000"/>
              </a:lnSpc>
              <a:spcAft>
                <a:spcPts val="800"/>
              </a:spcAft>
            </a:pPr>
            <a:r>
              <a:rPr sz="1300" b="0" i="0">
                <a:solidFill>
                  <a:srgbClr val="F4F6F8"/>
                </a:solidFill>
                <a:latin typeface="Arial"/>
              </a:rPr>
              <a:t>infra/devnet/standalone.yml pins the working set, with the reason written next to it, so the next team does not lose a wave to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background"/>
          <p:cNvSpPr/>
          <p:nvPr/>
        </p:nvSpPr>
        <p:spPr>
          <a:xfrm>
            <a:off x="0" y="0"/>
            <a:ext cx="12191695" cy="6858000"/>
          </a:xfrm>
          <a:prstGeom prst="rect">
            <a:avLst/>
          </a:prstGeom>
          <a:solidFill>
            <a:srgbClr val="0A0E1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84048"/>
            <a:ext cx="5486400" cy="292608"/>
          </a:xfrm>
          <a:prstGeom prst="rect">
            <a:avLst/>
          </a:prstGeom>
          <a:noFill/>
        </p:spPr>
        <p:txBody>
          <a:bodyPr wrap="square" anchor="t" lIns="0" rIns="0" tIns="0" bIns="0">
            <a:spAutoFit/>
          </a:bodyPr>
          <a:lstStyle/>
          <a:p>
            <a:pPr algn="l">
              <a:lnSpc>
                <a:spcPct val="100000"/>
              </a:lnSpc>
              <a:defRPr>
                <a:latin typeface="Arial"/>
              </a:defRPr>
            </a:pPr>
            <a:r>
              <a:rPr sz="1200" b="1" i="0">
                <a:solidFill>
                  <a:srgbClr val="2DD4BF"/>
                </a:solidFill>
                <a:latin typeface="Arial"/>
              </a:rPr>
              <a:t>WHO IT'S FOR, AND WHAT'S NEXT</a:t>
            </a:r>
          </a:p>
        </p:txBody>
      </p:sp>
      <p:sp>
        <p:nvSpPr>
          <p:cNvPr id="4" name="TextBox 3"/>
          <p:cNvSpPr txBox="1"/>
          <p:nvPr/>
        </p:nvSpPr>
        <p:spPr>
          <a:xfrm>
            <a:off x="594360" y="658368"/>
            <a:ext cx="11002975" cy="658368"/>
          </a:xfrm>
          <a:prstGeom prst="rect">
            <a:avLst/>
          </a:prstGeom>
          <a:noFill/>
        </p:spPr>
        <p:txBody>
          <a:bodyPr wrap="square" anchor="t" lIns="0" rIns="0" tIns="0" bIns="0">
            <a:spAutoFit/>
          </a:bodyPr>
          <a:lstStyle/>
          <a:p>
            <a:pPr algn="l">
              <a:lnSpc>
                <a:spcPct val="100000"/>
              </a:lnSpc>
            </a:pPr>
            <a:r>
              <a:rPr sz="2600" b="1" i="0">
                <a:solidFill>
                  <a:srgbClr val="F4F6F8"/>
                </a:solidFill>
                <a:latin typeface="Arial"/>
              </a:rPr>
              <a:t>From a proven primitive to a service</a:t>
            </a:r>
          </a:p>
        </p:txBody>
      </p:sp>
      <p:cxnSp>
        <p:nvCxnSpPr>
          <p:cNvPr id="5" name="Connector 4"/>
          <p:cNvCxnSpPr/>
          <p:nvPr/>
        </p:nvCxnSpPr>
        <p:spPr>
          <a:xfrm>
            <a:off x="594360" y="1389888"/>
            <a:ext cx="11002975" cy="0"/>
          </a:xfrm>
          <a:prstGeom prst="line">
            <a:avLst/>
          </a:prstGeom>
          <a:ln w="12700">
            <a:solidFill>
              <a:srgbClr val="27303F"/>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473952"/>
            <a:ext cx="5486400" cy="274320"/>
          </a:xfrm>
          <a:prstGeom prst="rect">
            <a:avLst/>
          </a:prstGeom>
          <a:noFill/>
        </p:spPr>
        <p:txBody>
          <a:bodyPr wrap="square" anchor="t" lIns="0" rIns="0" tIns="0" bIns="0">
            <a:spAutoFit/>
          </a:bodyPr>
          <a:lstStyle/>
          <a:p>
            <a:pPr algn="l">
              <a:lnSpc>
                <a:spcPct val="100000"/>
              </a:lnSpc>
            </a:pPr>
            <a:r>
              <a:rPr sz="900" b="1" i="0">
                <a:solidFill>
                  <a:srgbClr val="5B6473"/>
                </a:solidFill>
                <a:latin typeface="Arial"/>
              </a:rPr>
              <a:t>SPONSORSHIP GATE</a:t>
            </a:r>
          </a:p>
        </p:txBody>
      </p:sp>
      <p:sp>
        <p:nvSpPr>
          <p:cNvPr id="7" name="TextBox 6"/>
          <p:cNvSpPr txBox="1"/>
          <p:nvPr/>
        </p:nvSpPr>
        <p:spPr>
          <a:xfrm>
            <a:off x="10500055" y="6473952"/>
            <a:ext cx="1097280" cy="274320"/>
          </a:xfrm>
          <a:prstGeom prst="rect">
            <a:avLst/>
          </a:prstGeom>
          <a:noFill/>
        </p:spPr>
        <p:txBody>
          <a:bodyPr wrap="square" anchor="t" lIns="0" rIns="0" tIns="0" bIns="0">
            <a:spAutoFit/>
          </a:bodyPr>
          <a:lstStyle/>
          <a:p>
            <a:pPr algn="r">
              <a:lnSpc>
                <a:spcPct val="100000"/>
              </a:lnSpc>
            </a:pPr>
            <a:r>
              <a:rPr sz="900" b="0" i="0">
                <a:solidFill>
                  <a:srgbClr val="5B6473"/>
                </a:solidFill>
                <a:latin typeface="Arial"/>
              </a:rPr>
              <a:t>12 / 12</a:t>
            </a:r>
          </a:p>
        </p:txBody>
      </p:sp>
      <p:sp>
        <p:nvSpPr>
          <p:cNvPr id="8" name="Rounded Rectangle 7"/>
          <p:cNvSpPr/>
          <p:nvPr/>
        </p:nvSpPr>
        <p:spPr>
          <a:xfrm>
            <a:off x="594360" y="1737360"/>
            <a:ext cx="5318607" cy="224028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1901952"/>
            <a:ext cx="4916271"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Who uses it</a:t>
            </a:r>
          </a:p>
        </p:txBody>
      </p:sp>
      <p:sp>
        <p:nvSpPr>
          <p:cNvPr id="10" name="TextBox 9"/>
          <p:cNvSpPr txBox="1"/>
          <p:nvPr/>
        </p:nvSpPr>
        <p:spPr>
          <a:xfrm>
            <a:off x="795528" y="2359152"/>
            <a:ext cx="4916271" cy="1508760"/>
          </a:xfrm>
          <a:prstGeom prst="rect">
            <a:avLst/>
          </a:prstGeom>
          <a:noFill/>
        </p:spPr>
        <p:txBody>
          <a:bodyPr wrap="square" anchor="t" lIns="0" rIns="0" tIns="0" bIns="0">
            <a:spAutoFit/>
          </a:bodyPr>
          <a:lstStyle/>
          <a:p>
            <a:pPr algn="l">
              <a:lnSpc>
                <a:spcPct val="125000"/>
              </a:lnSpc>
            </a:pPr>
            <a:r>
              <a:rPr sz="1250" b="0" i="0">
                <a:solidFill>
                  <a:srgbClr val="8B94A3"/>
                </a:solidFill>
                <a:latin typeface="Arial"/>
              </a:rPr>
              <a:t>Wallets and dApps that must onboard users with zero balance.
Communities and DAOs sponsoring members without a membership list.
Any app where "who funded whom" is itself sensitive.</a:t>
            </a:r>
          </a:p>
        </p:txBody>
      </p:sp>
      <p:sp>
        <p:nvSpPr>
          <p:cNvPr id="11" name="Rounded Rectangle 10"/>
          <p:cNvSpPr/>
          <p:nvPr/>
        </p:nvSpPr>
        <p:spPr>
          <a:xfrm>
            <a:off x="6278727" y="1737360"/>
            <a:ext cx="5318607" cy="224028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79895" y="1901952"/>
            <a:ext cx="4916271" cy="411480"/>
          </a:xfrm>
          <a:prstGeom prst="rect">
            <a:avLst/>
          </a:prstGeom>
          <a:noFill/>
        </p:spPr>
        <p:txBody>
          <a:bodyPr wrap="square" anchor="t" lIns="0" rIns="0" tIns="0" bIns="0">
            <a:spAutoFit/>
          </a:bodyPr>
          <a:lstStyle/>
          <a:p>
            <a:pPr algn="l">
              <a:lnSpc>
                <a:spcPct val="100000"/>
              </a:lnSpc>
            </a:pPr>
            <a:r>
              <a:rPr sz="1400" b="1" i="0">
                <a:solidFill>
                  <a:srgbClr val="2DD4BF"/>
                </a:solidFill>
                <a:latin typeface="Arial"/>
              </a:rPr>
              <a:t>How it sustains</a:t>
            </a:r>
          </a:p>
        </p:txBody>
      </p:sp>
      <p:sp>
        <p:nvSpPr>
          <p:cNvPr id="13" name="TextBox 12"/>
          <p:cNvSpPr txBox="1"/>
          <p:nvPr/>
        </p:nvSpPr>
        <p:spPr>
          <a:xfrm>
            <a:off x="6479895" y="2359152"/>
            <a:ext cx="4916271" cy="1508760"/>
          </a:xfrm>
          <a:prstGeom prst="rect">
            <a:avLst/>
          </a:prstGeom>
          <a:noFill/>
        </p:spPr>
        <p:txBody>
          <a:bodyPr wrap="square" anchor="t" lIns="0" rIns="0" tIns="0" bIns="0">
            <a:spAutoFit/>
          </a:bodyPr>
          <a:lstStyle/>
          <a:p>
            <a:pPr algn="l">
              <a:lnSpc>
                <a:spcPct val="125000"/>
              </a:lnSpc>
            </a:pPr>
            <a:r>
              <a:rPr sz="1250" b="0" i="0">
                <a:solidFill>
                  <a:srgbClr val="8B94A3"/>
                </a:solidFill>
                <a:latin typeface="Arial"/>
              </a:rPr>
              <a:t>Sponsors pay fees they choose to cover; the on-chain budget caps exposure. A hosted reference sponsor service (pool-as-a-service) is the natural paid layer. The contract and inspector stay open.</a:t>
            </a:r>
          </a:p>
        </p:txBody>
      </p:sp>
      <p:sp>
        <p:nvSpPr>
          <p:cNvPr id="14" name="Rounded Rectangle 13"/>
          <p:cNvSpPr/>
          <p:nvPr/>
        </p:nvSpPr>
        <p:spPr>
          <a:xfrm>
            <a:off x="594360" y="4206240"/>
            <a:ext cx="11002975" cy="1965960"/>
          </a:xfrm>
          <a:prstGeom prst="roundRect">
            <a:avLst>
              <a:gd name="adj" fmla="val 6000"/>
            </a:avLst>
          </a:prstGeom>
          <a:solidFill>
            <a:srgbClr val="111722"/>
          </a:solidFill>
          <a:ln w="9525">
            <a:solidFill>
              <a:srgbClr val="2730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4343400"/>
            <a:ext cx="10454335" cy="365760"/>
          </a:xfrm>
          <a:prstGeom prst="rect">
            <a:avLst/>
          </a:prstGeom>
          <a:noFill/>
        </p:spPr>
        <p:txBody>
          <a:bodyPr wrap="square" anchor="t" lIns="0" rIns="0" tIns="0" bIns="0">
            <a:spAutoFit/>
          </a:bodyPr>
          <a:lstStyle/>
          <a:p>
            <a:pPr algn="l">
              <a:lnSpc>
                <a:spcPct val="100000"/>
              </a:lnSpc>
            </a:pPr>
            <a:r>
              <a:rPr sz="1100" b="1" i="0">
                <a:solidFill>
                  <a:srgbClr val="2DD4BF"/>
                </a:solidFill>
                <a:latin typeface="Arial"/>
              </a:rPr>
              <a:t>WAVE 3</a:t>
            </a:r>
          </a:p>
        </p:txBody>
      </p:sp>
      <p:sp>
        <p:nvSpPr>
          <p:cNvPr id="16" name="TextBox 15"/>
          <p:cNvSpPr txBox="1"/>
          <p:nvPr/>
        </p:nvSpPr>
        <p:spPr>
          <a:xfrm>
            <a:off x="868680" y="4709160"/>
            <a:ext cx="10454335" cy="1371600"/>
          </a:xfrm>
          <a:prstGeom prst="rect">
            <a:avLst/>
          </a:prstGeom>
          <a:noFill/>
        </p:spPr>
        <p:txBody>
          <a:bodyPr wrap="square" anchor="t" lIns="0" rIns="0" tIns="0" bIns="0">
            <a:spAutoFit/>
          </a:bodyPr>
          <a:lstStyle/>
          <a:p>
            <a:pPr algn="l">
              <a:lnSpc>
                <a:spcPct val="120000"/>
              </a:lnSpc>
              <a:spcAft>
                <a:spcPts val="500"/>
              </a:spcAft>
            </a:pPr>
            <a:r>
              <a:rPr sz="1300" b="0" i="0">
                <a:solidFill>
                  <a:srgbClr val="F4F6F8"/>
                </a:solidFill>
                <a:latin typeface="Arial"/>
              </a:rPr>
              <a:t>Preprod deployment with the same script, and a funded wallet.</a:t>
            </a:r>
          </a:p>
          <a:p>
            <a:pPr algn="l">
              <a:lnSpc>
                <a:spcPct val="120000"/>
              </a:lnSpc>
              <a:spcAft>
                <a:spcPts val="500"/>
              </a:spcAft>
            </a:pPr>
            <a:r>
              <a:rPr sz="1300" b="0" i="0">
                <a:solidFill>
                  <a:srgbClr val="F4F6F8"/>
                </a:solidFill>
                <a:latin typeface="Arial"/>
              </a:rPr>
              <a:t>Reference sponsor service as running code, with rate limits and per-pool budgets.</a:t>
            </a:r>
          </a:p>
          <a:p>
            <a:pPr algn="l">
              <a:lnSpc>
                <a:spcPct val="120000"/>
              </a:lnSpc>
              <a:spcAft>
                <a:spcPts val="500"/>
              </a:spcAft>
            </a:pPr>
            <a:r>
              <a:rPr sz="1300" b="0" i="0">
                <a:solidFill>
                  <a:srgbClr val="F4F6F8"/>
                </a:solidFill>
                <a:latin typeface="Arial"/>
              </a:rPr>
              <a:t>Epoch-partitioned nullifiers so the spent set stops growing without bound.</a:t>
            </a:r>
          </a:p>
          <a:p>
            <a:pPr algn="l">
              <a:lnSpc>
                <a:spcPct val="120000"/>
              </a:lnSpc>
              <a:spcAft>
                <a:spcPts val="500"/>
              </a:spcAft>
            </a:pPr>
            <a:r>
              <a:rPr sz="1300" b="0" i="0">
                <a:solidFill>
                  <a:srgbClr val="F4F6F8"/>
                </a:solidFill>
                <a:latin typeface="Arial"/>
              </a:rPr>
              <a:t>Browser wallet (DApp connector) so the console can drive a live pool, not just the sandbox.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